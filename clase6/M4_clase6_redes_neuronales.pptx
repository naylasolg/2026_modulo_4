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hyperlink" Target="https://arxiv.org/abs/1712.09913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statlearning.com/" TargetMode="External"/><Relationship Id="rId3" Type="http://schemas.openxmlformats.org/officeDocument/2006/relationships/hyperlink" Target="https://www.tmwr.org/" TargetMode="External"/><Relationship Id="rId4" Type="http://schemas.openxmlformats.org/officeDocument/2006/relationships/hyperlink" Target="https://christophm.github.io/interpretable-ml-book/" TargetMode="External"/><Relationship Id="rId5" Type="http://schemas.openxmlformats.org/officeDocument/2006/relationships/hyperlink" Target="https://neuralnetworksanddeeplearning.com/" TargetMode="External"/><Relationship Id="rId6" Type="http://schemas.openxmlformats.org/officeDocument/2006/relationships/hyperlink" Target="https://arxiv.org/abs/1712.09913" TargetMode="External"/><Relationship Id="rId7" Type="http://schemas.openxmlformats.org/officeDocument/2006/relationships/hyperlink" Target="https://playground.tensorflow.org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024128"/>
            <a:ext cx="7772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>
                <a:solidFill>
                  <a:srgbClr val="0000FF"/>
                </a:solidFill>
              </a:rPr>
              <a:t>Redes neuronales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>
                <a:solidFill>
                  <a:srgbClr val="0000FF"/>
                </a:solidFill>
              </a:rPr>
              <a:t>artificiales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28529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>
                <a:solidFill>
                  <a:srgbClr val="595959"/>
                </a:solidFill>
              </a:rPr>
              <a:t>Una 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33649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8A8A8A"/>
                </a:solidFill>
              </a:rPr>
              <a:t>Módulo 4 — Fundamentos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74903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8A8A8A"/>
                </a:solidFill>
              </a:rPr>
              <a:t>DCSCyHD — IDAES / UNSAM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4617720"/>
            <a:ext cx="29077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8A8A8A"/>
                </a:solidFill>
              </a:rPr>
              <a:t>COMISIÓN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548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8A8A8A"/>
                </a:solidFill>
              </a:rPr>
              <a:t>REPASO DEL MÓDULO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¿Dónde estamos?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Después del desvío por el </a:t>
            </a:r>
            <a:r>
              <a:rPr sz="1700" b="1">
                <a:solidFill>
                  <a:srgbClr val="595959"/>
                </a:solidFill>
              </a:rPr>
              <a:t>aprendizaje no supervisado</a:t>
            </a:r>
            <a:r>
              <a:rPr sz="1700">
                <a:solidFill>
                  <a:srgbClr val="595959"/>
                </a:solidFill>
              </a:rPr>
              <a:t>, volvemos a los problemas de </a:t>
            </a:r>
            <a:r>
              <a:rPr sz="1700" b="1">
                <a:solidFill>
                  <a:srgbClr val="595959"/>
                </a:solidFill>
              </a:rPr>
              <a:t>predicción</a:t>
            </a:r>
            <a:r>
              <a:rPr sz="1700">
                <a:solidFill>
                  <a:srgbClr val="595959"/>
                </a:solidFill>
              </a:rPr>
              <a:t>. Ahora con una familia de modelos nueva.</a:t>
            </a:r>
          </a:p>
        </p:txBody>
      </p:sp>
      <p:pic>
        <p:nvPicPr>
          <p:cNvPr id="5" name="Picture 4" descr="01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2011680"/>
            <a:ext cx="8503920" cy="15136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936857"/>
            <a:ext cx="8138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Las redes neuronales son, como los árboles y los ensambles, modelos de </a:t>
            </a:r>
            <a:r>
              <a:rPr sz="1700" b="1">
                <a:solidFill>
                  <a:srgbClr val="595959"/>
                </a:solidFill>
              </a:rPr>
              <a:t>aprendizaje supervisado</a:t>
            </a:r>
            <a:r>
              <a:rPr sz="1700">
                <a:solidFill>
                  <a:srgbClr val="595959"/>
                </a:solidFill>
              </a:rPr>
              <a:t>: aprenden de casos etiquetados para predecir casos nuevos.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Hoja de ruta de la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57C00"/>
                </a:solidFill>
              </a:rPr>
              <a:t>1.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De la regresión logística al perceptrón.</a:t>
            </a:r>
            <a:r>
              <a:rPr sz="1700">
                <a:solidFill>
                  <a:srgbClr val="595959"/>
                </a:solidFill>
              </a:rPr>
              <a:t> El modelo que ya conocen, dibujado de otra manera.</a:t>
            </a:r>
          </a:p>
          <a:p>
            <a:pPr algn="l">
              <a:spcAft>
                <a:spcPts val="200"/>
              </a:spcAft>
            </a:pPr>
            <a:r>
              <a:rPr sz="850"/>
              <a:t>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57C00"/>
                </a:solidFill>
              </a:rPr>
              <a:t>2.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Por qué hace falta una capa oculta.</a:t>
            </a:r>
            <a:r>
              <a:rPr sz="1700">
                <a:solidFill>
                  <a:srgbClr val="595959"/>
                </a:solidFill>
              </a:rPr>
              <a:t> Qué puede hacer una red que un modelo lineal no.</a:t>
            </a:r>
          </a:p>
          <a:p>
            <a:pPr algn="l">
              <a:spcAft>
                <a:spcPts val="200"/>
              </a:spcAft>
            </a:pPr>
            <a:r>
              <a:rPr sz="850"/>
              <a:t>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57C00"/>
                </a:solidFill>
              </a:rPr>
              <a:t>3.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Cómo aprende una red.</a:t>
            </a:r>
            <a:r>
              <a:rPr sz="1700">
                <a:solidFill>
                  <a:srgbClr val="595959"/>
                </a:solidFill>
              </a:rPr>
              <a:t> Función de pérdida, descenso de gradiente y backpropagation.</a:t>
            </a:r>
          </a:p>
          <a:p>
            <a:pPr algn="l">
              <a:spcAft>
                <a:spcPts val="200"/>
              </a:spcAft>
            </a:pPr>
            <a:r>
              <a:rPr sz="850"/>
              <a:t>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57C00"/>
                </a:solidFill>
              </a:rPr>
              <a:t>4.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Las decisiones que tomamos nosotrxs.</a:t>
            </a:r>
            <a:r>
              <a:rPr sz="1700">
                <a:solidFill>
                  <a:srgbClr val="595959"/>
                </a:solidFill>
              </a:rPr>
              <a:t> Hiperparámetros, escalado y sobreajuste.</a:t>
            </a:r>
          </a:p>
          <a:p>
            <a:pPr algn="l">
              <a:spcAft>
                <a:spcPts val="200"/>
              </a:spcAft>
            </a:pPr>
            <a:r>
              <a:rPr sz="850"/>
              <a:t>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57C00"/>
                </a:solidFill>
              </a:rPr>
              <a:t>5.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Manos a la obra en R</a:t>
            </a:r>
            <a:r>
              <a:rPr sz="1700">
                <a:solidFill>
                  <a:srgbClr val="595959"/>
                </a:solidFill>
              </a:rPr>
              <a:t> y la pregunta final: ¿cuándo conviene usar una red y cuándo no?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¿Por qué otro modelo más?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41832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Cada familia de modelos puede dibujar </a:t>
            </a:r>
            <a:r>
              <a:rPr sz="1700" b="1">
                <a:solidFill>
                  <a:srgbClr val="595959"/>
                </a:solidFill>
              </a:rPr>
              <a:t>cierto tipo de frontera</a:t>
            </a:r>
            <a:r>
              <a:rPr sz="1700">
                <a:solidFill>
                  <a:srgbClr val="595959"/>
                </a:solidFill>
              </a:rPr>
              <a:t> entre las clases, y no otra. Ahí está su fuerza y también su límite.</a:t>
            </a:r>
          </a:p>
        </p:txBody>
      </p:sp>
      <p:pic>
        <p:nvPicPr>
          <p:cNvPr id="4" name="Picture 3" descr="02_front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17904"/>
            <a:ext cx="6949440" cy="2638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321166"/>
            <a:ext cx="8138160" cy="627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El modelo lineal solo puede trazar </a:t>
            </a:r>
            <a:r>
              <a:rPr sz="1700" b="1">
                <a:solidFill>
                  <a:srgbClr val="595959"/>
                </a:solidFill>
              </a:rPr>
              <a:t>una recta</a:t>
            </a:r>
            <a:r>
              <a:rPr sz="1700">
                <a:solidFill>
                  <a:srgbClr val="595959"/>
                </a:solidFill>
              </a:rPr>
              <a:t>. El árbol, </a:t>
            </a:r>
            <a:r>
              <a:rPr sz="1700" b="1">
                <a:solidFill>
                  <a:srgbClr val="595959"/>
                </a:solidFill>
              </a:rPr>
              <a:t>escalones paralelos a los ejes</a:t>
            </a:r>
            <a:r>
              <a:rPr sz="1700">
                <a:solidFill>
                  <a:srgbClr val="595959"/>
                </a:solidFill>
              </a:rPr>
              <a:t>. La red, una </a:t>
            </a:r>
            <a:r>
              <a:rPr sz="1700" b="1">
                <a:solidFill>
                  <a:srgbClr val="595959"/>
                </a:solidFill>
              </a:rPr>
              <a:t>curva suave de cualquier forma</a:t>
            </a:r>
            <a:r>
              <a:rPr sz="170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El problema que ninguna recta resuelve</a:t>
            </a:r>
          </a:p>
        </p:txBody>
      </p:sp>
      <p:pic>
        <p:nvPicPr>
          <p:cNvPr id="3" name="Picture 2" descr="03_x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932688"/>
            <a:ext cx="5760720" cy="28517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930700"/>
            <a:ext cx="8138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Dos variables, dos grupos: los casos </a:t>
            </a:r>
            <a:r>
              <a:rPr sz="1700" b="1">
                <a:solidFill>
                  <a:srgbClr val="595959"/>
                </a:solidFill>
              </a:rPr>
              <a:t>A</a:t>
            </a:r>
            <a:r>
              <a:rPr sz="1700">
                <a:solidFill>
                  <a:srgbClr val="595959"/>
                </a:solidFill>
              </a:rPr>
              <a:t> en dos esquinas, los </a:t>
            </a:r>
            <a:r>
              <a:rPr sz="1700" b="1">
                <a:solidFill>
                  <a:srgbClr val="595959"/>
                </a:solidFill>
              </a:rPr>
              <a:t>B</a:t>
            </a:r>
            <a:r>
              <a:rPr sz="1700">
                <a:solidFill>
                  <a:srgbClr val="595959"/>
                </a:solidFill>
              </a:rPr>
              <a:t> en las otras dos. Es el clásico </a:t>
            </a:r>
            <a:r>
              <a:rPr sz="1700" b="1">
                <a:solidFill>
                  <a:srgbClr val="595959"/>
                </a:solidFill>
              </a:rPr>
              <a:t>problema XOR</a:t>
            </a:r>
            <a:r>
              <a:rPr sz="1700">
                <a:solidFill>
                  <a:srgbClr val="595959"/>
                </a:solidFill>
              </a:rPr>
              <a:t>, que </a:t>
            </a:r>
            <a:r>
              <a:rPr sz="1700" b="1">
                <a:solidFill>
                  <a:srgbClr val="595959"/>
                </a:solidFill>
              </a:rPr>
              <a:t>Minsky y Papert (1969)</a:t>
            </a:r>
            <a:r>
              <a:rPr sz="1700">
                <a:solidFill>
                  <a:srgbClr val="595959"/>
                </a:solidFill>
              </a:rPr>
              <a:t> usaron para mostrar el límite del perceptrón </a:t>
            </a:r>
            <a:r>
              <a:rPr sz="1700" b="1">
                <a:solidFill>
                  <a:srgbClr val="595959"/>
                </a:solidFill>
              </a:rPr>
              <a:t>de una sola capa</a:t>
            </a:r>
            <a:r>
              <a:rPr sz="170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Un poco de historia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81838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>
                <a:solidFill>
                  <a:srgbClr val="0000FF"/>
                </a:solidFill>
              </a:rPr>
              <a:t>1943</a:t>
            </a:r>
            <a:r>
              <a:rPr sz="1550">
                <a:solidFill>
                  <a:srgbClr val="595959"/>
                </a:solidFill>
              </a:rPr>
              <a:t> — McCulloch y Pitts proponen un modelo matemático de neurona: entradas, umbral, salida binaria.</a:t>
            </a:r>
          </a:p>
          <a:p>
            <a:pPr algn="l">
              <a:spcAft>
                <a:spcPts val="100"/>
              </a:spcAft>
            </a:pPr>
            <a:r>
              <a:rPr sz="775"/>
              <a:t> </a:t>
            </a:r>
          </a:p>
          <a:p>
            <a:pPr algn="l">
              <a:spcAft>
                <a:spcPts val="100"/>
              </a:spcAft>
            </a:pPr>
            <a:r>
              <a:rPr sz="1550" b="1">
                <a:solidFill>
                  <a:srgbClr val="0000FF"/>
                </a:solidFill>
              </a:rPr>
              <a:t>1958</a:t>
            </a:r>
            <a:r>
              <a:rPr sz="1550">
                <a:solidFill>
                  <a:srgbClr val="595959"/>
                </a:solidFill>
              </a:rPr>
              <a:t> — Rosenblatt publica el </a:t>
            </a:r>
            <a:r>
              <a:rPr sz="1550" b="1">
                <a:solidFill>
                  <a:srgbClr val="595959"/>
                </a:solidFill>
              </a:rPr>
              <a:t>perceptrón</a:t>
            </a:r>
            <a:r>
              <a:rPr sz="1550">
                <a:solidFill>
                  <a:srgbClr val="595959"/>
                </a:solidFill>
              </a:rPr>
              <a:t> y lo simula en una computadora IBM 704. En 1960 presenta el Mark I, una máquina física que aprende a reconocer patrones visuales simples.</a:t>
            </a:r>
          </a:p>
          <a:p>
            <a:pPr algn="l">
              <a:spcAft>
                <a:spcPts val="100"/>
              </a:spcAft>
            </a:pPr>
            <a:r>
              <a:rPr sz="775"/>
              <a:t> </a:t>
            </a:r>
          </a:p>
          <a:p>
            <a:pPr algn="l">
              <a:spcAft>
                <a:spcPts val="100"/>
              </a:spcAft>
            </a:pPr>
            <a:r>
              <a:rPr sz="1550" b="1">
                <a:solidFill>
                  <a:srgbClr val="0000FF"/>
                </a:solidFill>
              </a:rPr>
              <a:t>1969</a:t>
            </a:r>
            <a:r>
              <a:rPr sz="1550">
                <a:solidFill>
                  <a:srgbClr val="595959"/>
                </a:solidFill>
              </a:rPr>
              <a:t> — Minsky y Papert muestran que un perceptrón </a:t>
            </a:r>
            <a:r>
              <a:rPr sz="1550" b="1">
                <a:solidFill>
                  <a:srgbClr val="595959"/>
                </a:solidFill>
              </a:rPr>
              <a:t>de una sola capa</a:t>
            </a:r>
            <a:r>
              <a:rPr sz="1550">
                <a:solidFill>
                  <a:srgbClr val="595959"/>
                </a:solidFill>
              </a:rPr>
              <a:t> no puede resolver el XOR. El interés y el financiamiento para redes caen durante los 70.</a:t>
            </a:r>
          </a:p>
          <a:p>
            <a:pPr algn="l">
              <a:spcAft>
                <a:spcPts val="100"/>
              </a:spcAft>
            </a:pPr>
            <a:r>
              <a:rPr sz="775"/>
              <a:t> </a:t>
            </a:r>
          </a:p>
          <a:p>
            <a:pPr algn="l">
              <a:spcAft>
                <a:spcPts val="100"/>
              </a:spcAft>
            </a:pPr>
            <a:r>
              <a:rPr sz="1550" b="1">
                <a:solidFill>
                  <a:srgbClr val="0000FF"/>
                </a:solidFill>
              </a:rPr>
              <a:t>1986</a:t>
            </a:r>
            <a:r>
              <a:rPr sz="1550">
                <a:solidFill>
                  <a:srgbClr val="595959"/>
                </a:solidFill>
              </a:rPr>
              <a:t> — Rumelhart, Hinton y Williams popularizan la </a:t>
            </a:r>
            <a:r>
              <a:rPr sz="1550" b="1">
                <a:solidFill>
                  <a:srgbClr val="595959"/>
                </a:solidFill>
              </a:rPr>
              <a:t>retropropagación</a:t>
            </a:r>
            <a:r>
              <a:rPr sz="1550">
                <a:solidFill>
                  <a:srgbClr val="595959"/>
                </a:solidFill>
              </a:rPr>
              <a:t> (con antecedentes en los 70): ahora sí se pueden entrenar redes con capas ocultas.</a:t>
            </a:r>
          </a:p>
          <a:p>
            <a:pPr algn="l">
              <a:spcAft>
                <a:spcPts val="100"/>
              </a:spcAft>
            </a:pPr>
            <a:r>
              <a:rPr sz="775"/>
              <a:t> </a:t>
            </a:r>
          </a:p>
          <a:p>
            <a:pPr algn="l">
              <a:spcAft>
                <a:spcPts val="100"/>
              </a:spcAft>
            </a:pPr>
            <a:r>
              <a:rPr sz="1550" b="1">
                <a:solidFill>
                  <a:srgbClr val="0000FF"/>
                </a:solidFill>
              </a:rPr>
              <a:t>2012</a:t>
            </a:r>
            <a:r>
              <a:rPr sz="1550">
                <a:solidFill>
                  <a:srgbClr val="595959"/>
                </a:solidFill>
              </a:rPr>
              <a:t> — AlexNet gana el concurso ImageNet con 15,3% de error, contra 26,2% del segundo. Empieza la era del </a:t>
            </a:r>
            <a:r>
              <a:rPr sz="1550" b="1">
                <a:solidFill>
                  <a:srgbClr val="595959"/>
                </a:solidFill>
              </a:rPr>
              <a:t>deep learning</a:t>
            </a:r>
            <a:r>
              <a:rPr sz="155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100"/>
              </a:spcAft>
            </a:pPr>
            <a:r>
              <a:rPr sz="775"/>
              <a:t> </a:t>
            </a:r>
          </a:p>
          <a:p>
            <a:pPr algn="l">
              <a:spcAft>
                <a:spcPts val="100"/>
              </a:spcAft>
            </a:pPr>
            <a:r>
              <a:rPr sz="1550" b="1">
                <a:solidFill>
                  <a:srgbClr val="0000FF"/>
                </a:solidFill>
              </a:rPr>
              <a:t>2017</a:t>
            </a:r>
            <a:r>
              <a:rPr sz="1550">
                <a:solidFill>
                  <a:srgbClr val="595959"/>
                </a:solidFill>
              </a:rPr>
              <a:t> — El paper «Attention is all you need» introduce los </a:t>
            </a:r>
            <a:r>
              <a:rPr sz="1550" b="1">
                <a:solidFill>
                  <a:srgbClr val="595959"/>
                </a:solidFill>
              </a:rPr>
              <a:t>transformers</a:t>
            </a:r>
            <a:r>
              <a:rPr sz="1550">
                <a:solidFill>
                  <a:srgbClr val="595959"/>
                </a:solidFill>
              </a:rPr>
              <a:t>, la base de los LLM actuales.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¿Por qué se llaman «neuronales»?</a:t>
            </a:r>
          </a:p>
        </p:txBody>
      </p:sp>
      <p:pic>
        <p:nvPicPr>
          <p:cNvPr id="3" name="Picture 2" descr="04_neurona_biolog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14400"/>
            <a:ext cx="7680960" cy="28549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822191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595959"/>
                </a:solidFill>
              </a:rPr>
              <a:t>La neurona artificial copia ese esquema, muy simplificado.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595959"/>
                </a:solidFill>
              </a:rPr>
              <a:t>Ojo:</a:t>
            </a:r>
            <a:r>
              <a:rPr sz="1600">
                <a:solidFill>
                  <a:srgbClr val="595959"/>
                </a:solidFill>
              </a:rPr>
              <a:t> es una </a:t>
            </a:r>
            <a:r>
              <a:rPr sz="1600" b="1">
                <a:solidFill>
                  <a:srgbClr val="595959"/>
                </a:solidFill>
              </a:rPr>
              <a:t>metáfora histórica</a:t>
            </a:r>
            <a:r>
              <a:rPr sz="1600">
                <a:solidFill>
                  <a:srgbClr val="595959"/>
                </a:solidFill>
              </a:rPr>
              <a:t>. Una neurona real es mucho más compleja, y cómo aprende el cerebro sigue siendo una pregunta abierta.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La neurona artificial</a:t>
            </a:r>
          </a:p>
        </p:txBody>
      </p:sp>
      <p:pic>
        <p:nvPicPr>
          <p:cNvPr id="3" name="Picture 2" descr="05_percep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7315200" cy="29479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054340"/>
            <a:ext cx="8138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Multiplica cada variable por un </a:t>
            </a:r>
            <a:r>
              <a:rPr sz="1700" b="1">
                <a:solidFill>
                  <a:srgbClr val="595959"/>
                </a:solidFill>
              </a:rPr>
              <a:t>peso</a:t>
            </a:r>
            <a:r>
              <a:rPr sz="1700">
                <a:solidFill>
                  <a:srgbClr val="595959"/>
                </a:solidFill>
              </a:rPr>
              <a:t>, suma todo junto con un </a:t>
            </a:r>
            <a:r>
              <a:rPr sz="1700" b="1">
                <a:solidFill>
                  <a:srgbClr val="595959"/>
                </a:solidFill>
              </a:rPr>
              <a:t>sesgo</a:t>
            </a:r>
            <a:r>
              <a:rPr sz="1700">
                <a:solidFill>
                  <a:srgbClr val="595959"/>
                </a:solidFill>
              </a:rPr>
              <a:t>, y pasa el resultado por una </a:t>
            </a:r>
            <a:r>
              <a:rPr sz="1700" b="1">
                <a:solidFill>
                  <a:srgbClr val="595959"/>
                </a:solidFill>
              </a:rPr>
              <a:t>función de activación</a:t>
            </a:r>
            <a:r>
              <a:rPr sz="1700">
                <a:solidFill>
                  <a:srgbClr val="595959"/>
                </a:solidFill>
              </a:rPr>
              <a:t>. Eso es todo: lo único que se aprende son los pesos y el sesgo.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Los tres ingredientes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595959"/>
                </a:solidFill>
              </a:rPr>
              <a:t>1 — Los pesos (w).</a:t>
            </a:r>
            <a:r>
              <a:rPr sz="1700">
                <a:solidFill>
                  <a:srgbClr val="595959"/>
                </a:solidFill>
              </a:rPr>
              <a:t> Cuánto importa cada variable y en qué dirección. Un peso positivo grande significa «esta variable empuja fuerte hacia la clase 1».</a:t>
            </a:r>
          </a:p>
          <a:p>
            <a:pPr algn="l">
              <a:spcAft>
                <a:spcPts val="200"/>
              </a:spcAft>
            </a:pPr>
            <a:r>
              <a:rPr sz="850"/>
              <a:t>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595959"/>
                </a:solidFill>
              </a:rPr>
              <a:t>2 — El sesgo (b).</a:t>
            </a:r>
            <a:r>
              <a:rPr sz="1700">
                <a:solidFill>
                  <a:srgbClr val="595959"/>
                </a:solidFill>
              </a:rPr>
              <a:t> Corre el umbral. Sin él, la neurona estaría obligada a pasar por el origen. Es el equivalente a la </a:t>
            </a:r>
            <a:r>
              <a:rPr sz="1700" b="1">
                <a:solidFill>
                  <a:srgbClr val="595959"/>
                </a:solidFill>
              </a:rPr>
              <a:t>ordenada al origen</a:t>
            </a:r>
            <a:r>
              <a:rPr sz="1700">
                <a:solidFill>
                  <a:srgbClr val="595959"/>
                </a:solidFill>
              </a:rPr>
              <a:t> de la regresión lineal.</a:t>
            </a:r>
          </a:p>
          <a:p>
            <a:pPr algn="l">
              <a:spcAft>
                <a:spcPts val="200"/>
              </a:spcAft>
            </a:pPr>
            <a:r>
              <a:rPr sz="850"/>
              <a:t>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595959"/>
                </a:solidFill>
              </a:rPr>
              <a:t>3 — La función de activación.</a:t>
            </a:r>
            <a:r>
              <a:rPr sz="1700">
                <a:solidFill>
                  <a:srgbClr val="595959"/>
                </a:solidFill>
              </a:rPr>
              <a:t> Transforma la suma ponderada en la salida de la neurona. Es la que le da al modelo la capacidad de representar relaciones </a:t>
            </a:r>
            <a:r>
              <a:rPr sz="1700" b="1">
                <a:solidFill>
                  <a:srgbClr val="595959"/>
                </a:solidFill>
              </a:rPr>
              <a:t>no lineales</a:t>
            </a:r>
            <a:r>
              <a:rPr sz="170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850"/>
              <a:t> </a:t>
            </a:r>
          </a:p>
          <a:p>
            <a:pPr algn="l">
              <a:spcAft>
                <a:spcPts val="200"/>
              </a:spcAft>
            </a:pPr>
            <a:r>
              <a:rPr sz="1700" i="1">
                <a:solidFill>
                  <a:srgbClr val="595959"/>
                </a:solidFill>
              </a:rPr>
              <a:t>Los pesos y el sesgo se aprenden de los datos. La función de activación la elegimos nosotrxs: es un hiperparámetro.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Esto ya lo vieron</a:t>
            </a:r>
          </a:p>
        </p:txBody>
      </p:sp>
      <p:pic>
        <p:nvPicPr>
          <p:cNvPr id="3" name="Picture 2" descr="06_logistica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25056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65760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Una </a:t>
            </a:r>
            <a:r>
              <a:rPr sz="1700" b="1">
                <a:solidFill>
                  <a:srgbClr val="595959"/>
                </a:solidFill>
              </a:rPr>
              <a:t>regresión logística</a:t>
            </a:r>
            <a:r>
              <a:rPr sz="1700">
                <a:solidFill>
                  <a:srgbClr val="595959"/>
                </a:solidFill>
              </a:rPr>
              <a:t> es exactamente una neurona con activación sigmoide: suma ponderada de las variables más una constante, y una sigmoide que convierte eso en probabilidad.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¿Para qué sirve la función de activación?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>
                <a:solidFill>
                  <a:srgbClr val="595959"/>
                </a:solidFill>
              </a:rPr>
              <a:t>Supongamos que la saco: cada neurona devuelve directamente su suma ponderada.</a:t>
            </a:r>
          </a:p>
          <a:p>
            <a:pPr algn="l">
              <a:spcAft>
                <a:spcPts val="200"/>
              </a:spcAft>
            </a:pPr>
            <a:r>
              <a:rPr sz="850"/>
              <a:t> </a:t>
            </a:r>
          </a:p>
          <a:p>
            <a:pPr algn="l">
              <a:spcAft>
                <a:spcPts val="200"/>
              </a:spcAft>
            </a:pPr>
            <a:r>
              <a:rPr sz="1700">
                <a:solidFill>
                  <a:srgbClr val="595959"/>
                </a:solidFill>
              </a:rPr>
              <a:t>Entonces la capa 2 calcula una </a:t>
            </a:r>
            <a:r>
              <a:rPr sz="1700" b="1">
                <a:solidFill>
                  <a:srgbClr val="595959"/>
                </a:solidFill>
              </a:rPr>
              <a:t>combinación lineal</a:t>
            </a:r>
            <a:r>
              <a:rPr sz="1700">
                <a:solidFill>
                  <a:srgbClr val="595959"/>
                </a:solidFill>
              </a:rPr>
              <a:t> de combinaciones lineales de las variables. Y eso sigue siendo… </a:t>
            </a:r>
            <a:r>
              <a:rPr sz="1700" b="1">
                <a:solidFill>
                  <a:srgbClr val="595959"/>
                </a:solidFill>
              </a:rPr>
              <a:t>una combinación lineal de las variables</a:t>
            </a:r>
            <a:r>
              <a:rPr sz="170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850"/>
              <a:t>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57C00"/>
                </a:solidFill>
              </a:rPr>
              <a:t>Sin funciones de activación, una red de 50 capas equivale a una regresión lineal.</a:t>
            </a:r>
            <a:r>
              <a:rPr sz="1700">
                <a:solidFill>
                  <a:srgbClr val="595959"/>
                </a:solidFill>
              </a:rPr>
              <a:t> Toda la profundidad se derrumba en un único modelo lineal.</a:t>
            </a:r>
          </a:p>
          <a:p>
            <a:pPr algn="l">
              <a:spcAft>
                <a:spcPts val="200"/>
              </a:spcAft>
            </a:pPr>
            <a:r>
              <a:rPr sz="850"/>
              <a:t> </a:t>
            </a:r>
          </a:p>
          <a:p>
            <a:pPr algn="l">
              <a:spcAft>
                <a:spcPts val="200"/>
              </a:spcAft>
            </a:pPr>
            <a:r>
              <a:rPr sz="1700">
                <a:solidFill>
                  <a:srgbClr val="595959"/>
                </a:solidFill>
              </a:rPr>
              <a:t>La activación es lo que </a:t>
            </a:r>
            <a:r>
              <a:rPr sz="1700" b="1">
                <a:solidFill>
                  <a:srgbClr val="595959"/>
                </a:solidFill>
              </a:rPr>
              <a:t>rompe la linealidad</a:t>
            </a:r>
            <a:r>
              <a:rPr sz="1700">
                <a:solidFill>
                  <a:srgbClr val="595959"/>
                </a:solidFill>
              </a:rPr>
              <a:t> y permite que cada capa agregue algo nuevo. Es el ingrediente que hace que valga la pena apilar capas.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Las funciones de activación más usadas</a:t>
            </a:r>
          </a:p>
        </p:txBody>
      </p:sp>
      <p:pic>
        <p:nvPicPr>
          <p:cNvPr id="3" name="Picture 2" descr="08_activ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7955279" cy="29258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032293"/>
            <a:ext cx="813816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95959"/>
                </a:solidFill>
              </a:rPr>
              <a:t>En las capas ocultas</a:t>
            </a:r>
            <a:r>
              <a:rPr sz="1600">
                <a:solidFill>
                  <a:srgbClr val="595959"/>
                </a:solidFill>
              </a:rPr>
              <a:t> hoy se usa casi siempre </a:t>
            </a:r>
            <a:r>
              <a:rPr sz="1600" b="1">
                <a:solidFill>
                  <a:srgbClr val="595959"/>
                </a:solidFill>
              </a:rPr>
              <a:t>ReLU</a:t>
            </a:r>
            <a:r>
              <a:rPr sz="1600">
                <a:solidFill>
                  <a:srgbClr val="595959"/>
                </a:solidFill>
              </a:rPr>
              <a:t>: es rápida y entrena bien. </a:t>
            </a:r>
            <a:r>
              <a:rPr sz="1600" b="1">
                <a:solidFill>
                  <a:srgbClr val="595959"/>
                </a:solidFill>
              </a:rPr>
              <a:t>En la capa de salida</a:t>
            </a:r>
            <a:r>
              <a:rPr sz="1600">
                <a:solidFill>
                  <a:srgbClr val="595959"/>
                </a:solidFill>
              </a:rPr>
              <a:t> la activación la define el problema: </a:t>
            </a:r>
            <a:r>
              <a:rPr sz="1600" b="1">
                <a:solidFill>
                  <a:srgbClr val="595959"/>
                </a:solidFill>
              </a:rPr>
              <a:t>sigmoide</a:t>
            </a:r>
            <a:r>
              <a:rPr sz="1600">
                <a:solidFill>
                  <a:srgbClr val="595959"/>
                </a:solidFill>
              </a:rPr>
              <a:t> para clasificación binaria, </a:t>
            </a:r>
            <a:r>
              <a:rPr sz="1600" b="1">
                <a:solidFill>
                  <a:srgbClr val="595959"/>
                </a:solidFill>
              </a:rPr>
              <a:t>softmax</a:t>
            </a:r>
            <a:r>
              <a:rPr sz="1600">
                <a:solidFill>
                  <a:srgbClr val="595959"/>
                </a:solidFill>
              </a:rPr>
              <a:t> para varias clases, </a:t>
            </a:r>
            <a:r>
              <a:rPr sz="1600" b="1">
                <a:solidFill>
                  <a:srgbClr val="595959"/>
                </a:solidFill>
              </a:rPr>
              <a:t>ninguna</a:t>
            </a:r>
            <a:r>
              <a:rPr sz="1600">
                <a:solidFill>
                  <a:srgbClr val="595959"/>
                </a:solidFill>
              </a:rPr>
              <a:t> para regresión.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Agregamos una capa oculta</a:t>
            </a:r>
          </a:p>
        </p:txBody>
      </p:sp>
      <p:pic>
        <p:nvPicPr>
          <p:cNvPr id="3" name="Picture 2" descr="09_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32688"/>
            <a:ext cx="5989320" cy="33185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55080" y="1234440"/>
            <a:ext cx="2606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595959"/>
                </a:solidFill>
              </a:rPr>
              <a:t>Cada neurona de una capa recibe </a:t>
            </a:r>
            <a:r>
              <a:rPr sz="1500" b="1">
                <a:solidFill>
                  <a:srgbClr val="595959"/>
                </a:solidFill>
              </a:rPr>
              <a:t>todas</a:t>
            </a:r>
            <a:r>
              <a:rPr sz="1500">
                <a:solidFill>
                  <a:srgbClr val="595959"/>
                </a:solidFill>
              </a:rPr>
              <a:t> las salidas de la capa anterior.</a:t>
            </a:r>
          </a:p>
          <a:p>
            <a:pPr algn="l">
              <a:spcAft>
                <a:spcPts val="0"/>
              </a:spcAft>
            </a:pPr>
            <a:r>
              <a:rPr sz="750"/>
              <a:t> 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595959"/>
                </a:solidFill>
              </a:rPr>
              <a:t>A las capas del medio les decimos </a:t>
            </a:r>
            <a:r>
              <a:rPr sz="1500" b="1">
                <a:solidFill>
                  <a:srgbClr val="595959"/>
                </a:solidFill>
              </a:rPr>
              <a:t>ocultas</a:t>
            </a:r>
            <a:r>
              <a:rPr sz="1500">
                <a:solidFill>
                  <a:srgbClr val="595959"/>
                </a:solidFill>
              </a:rPr>
              <a:t> porque no las observamos: no son ni los datos de entrada ni la predicción.</a:t>
            </a:r>
          </a:p>
          <a:p>
            <a:pPr algn="l">
              <a:spcAft>
                <a:spcPts val="0"/>
              </a:spcAft>
            </a:pPr>
            <a:r>
              <a:rPr sz="750"/>
              <a:t> 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595959"/>
                </a:solidFill>
              </a:rPr>
              <a:t>Esta arquitectura se llama </a:t>
            </a:r>
            <a:r>
              <a:rPr sz="1500" b="1">
                <a:solidFill>
                  <a:srgbClr val="595959"/>
                </a:solidFill>
              </a:rPr>
              <a:t>perceptrón multicapa</a:t>
            </a:r>
            <a:r>
              <a:rPr sz="1500">
                <a:solidFill>
                  <a:srgbClr val="595959"/>
                </a:solidFill>
              </a:rPr>
              <a:t> (MLP) o </a:t>
            </a:r>
            <a:r>
              <a:rPr sz="1500" b="1">
                <a:solidFill>
                  <a:srgbClr val="595959"/>
                </a:solidFill>
              </a:rPr>
              <a:t>red densa</a:t>
            </a:r>
            <a:r>
              <a:rPr sz="150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¿Qué hace la capa oculta?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41832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Construye </a:t>
            </a:r>
            <a:r>
              <a:rPr sz="1700" b="1">
                <a:solidFill>
                  <a:srgbClr val="595959"/>
                </a:solidFill>
              </a:rPr>
              <a:t>variables nuevas</a:t>
            </a:r>
            <a:r>
              <a:rPr sz="1700">
                <a:solidFill>
                  <a:srgbClr val="595959"/>
                </a:solidFill>
              </a:rPr>
              <a:t> a partir de las originales. Cuantas más neuronas, más flexible la frontera que puede dibujar.</a:t>
            </a:r>
          </a:p>
        </p:txBody>
      </p:sp>
      <p:pic>
        <p:nvPicPr>
          <p:cNvPr id="4" name="Picture 3" descr="10_capac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36192"/>
            <a:ext cx="6858000" cy="23081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027244"/>
            <a:ext cx="8138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Esta es la gran diferencia con los modelos anteriores: no le decimos a la red </a:t>
            </a:r>
            <a:r>
              <a:rPr sz="1700" b="1">
                <a:solidFill>
                  <a:srgbClr val="595959"/>
                </a:solidFill>
              </a:rPr>
              <a:t>qué</a:t>
            </a:r>
            <a:r>
              <a:rPr sz="1700">
                <a:solidFill>
                  <a:srgbClr val="595959"/>
                </a:solidFill>
              </a:rPr>
              <a:t> combinaciones de variables mirar. Las descubre entrenando. Y esa flexibilidad, sin control, termina en </a:t>
            </a:r>
            <a:r>
              <a:rPr sz="1700" b="1">
                <a:solidFill>
                  <a:srgbClr val="595959"/>
                </a:solidFill>
              </a:rPr>
              <a:t>sobreajuste</a:t>
            </a:r>
            <a:r>
              <a:rPr sz="170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Forward pass: un caso concreto</a:t>
            </a:r>
          </a:p>
        </p:txBody>
      </p:sp>
      <p:pic>
        <p:nvPicPr>
          <p:cNvPr id="3" name="Picture 2" descr="07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19" y="896112"/>
            <a:ext cx="7452360" cy="39926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¿Cuánto se equivocó? La función de pérdida</a:t>
            </a:r>
          </a:p>
        </p:txBody>
      </p:sp>
      <p:pic>
        <p:nvPicPr>
          <p:cNvPr id="3" name="Picture 2" descr="12b_entrop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932688"/>
            <a:ext cx="5394960" cy="632906"/>
          </a:xfrm>
          <a:prstGeom prst="rect">
            <a:avLst/>
          </a:prstGeom>
        </p:spPr>
      </p:pic>
      <p:pic>
        <p:nvPicPr>
          <p:cNvPr id="4" name="Picture 3" descr="12_perd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64208"/>
            <a:ext cx="5943600" cy="24880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62029"/>
            <a:ext cx="81381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595959"/>
                </a:solidFill>
              </a:rPr>
              <a:t>Si el caso es positivo (y = 1) la fórmula queda −log(ŷ); si es negativo (y = 0), −log(1 − ŷ). La pérdida del modelo es el </a:t>
            </a:r>
            <a:r>
              <a:rPr sz="1500" b="1">
                <a:solidFill>
                  <a:srgbClr val="595959"/>
                </a:solidFill>
              </a:rPr>
              <a:t>promedio</a:t>
            </a:r>
            <a:r>
              <a:rPr sz="1500">
                <a:solidFill>
                  <a:srgbClr val="595959"/>
                </a:solidFill>
              </a:rPr>
              <a:t> sobre todos los casos. Para regresión se usa el </a:t>
            </a:r>
            <a:r>
              <a:rPr sz="1500" b="1">
                <a:solidFill>
                  <a:srgbClr val="595959"/>
                </a:solidFill>
              </a:rPr>
              <a:t>error cuadrático medio</a:t>
            </a:r>
            <a:r>
              <a:rPr sz="150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El problema central del entrenamiento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Ya sabemos </a:t>
            </a:r>
            <a:r>
              <a:rPr sz="1700" b="1">
                <a:solidFill>
                  <a:srgbClr val="595959"/>
                </a:solidFill>
              </a:rPr>
              <a:t>predecir</a:t>
            </a:r>
            <a:r>
              <a:rPr sz="1700">
                <a:solidFill>
                  <a:srgbClr val="595959"/>
                </a:solidFill>
              </a:rPr>
              <a:t> con pesos dados y </a:t>
            </a:r>
            <a:r>
              <a:rPr sz="1700" b="1">
                <a:solidFill>
                  <a:srgbClr val="595959"/>
                </a:solidFill>
              </a:rPr>
              <a:t>medir</a:t>
            </a:r>
            <a:r>
              <a:rPr sz="1700">
                <a:solidFill>
                  <a:srgbClr val="595959"/>
                </a:solidFill>
              </a:rPr>
              <a:t> cuánto erramos. Falta lo difícil: </a:t>
            </a:r>
            <a:r>
              <a:rPr sz="1700" b="1">
                <a:solidFill>
                  <a:srgbClr val="595959"/>
                </a:solidFill>
              </a:rPr>
              <a:t>¿de dónde salen los pesos?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La red del ejemplo anterior tiene </a:t>
            </a:r>
            <a:r>
              <a:rPr sz="1700" b="1">
                <a:solidFill>
                  <a:srgbClr val="595959"/>
                </a:solidFill>
              </a:rPr>
              <a:t>11 pesos</a:t>
            </a:r>
            <a:r>
              <a:rPr sz="1700">
                <a:solidFill>
                  <a:srgbClr val="595959"/>
                </a:solidFill>
              </a:rPr>
              <a:t>. La de la práctica de hoy, </a:t>
            </a:r>
            <a:r>
              <a:rPr sz="1700" b="1">
                <a:solidFill>
                  <a:srgbClr val="595959"/>
                </a:solidFill>
              </a:rPr>
              <a:t>121</a:t>
            </a:r>
            <a:r>
              <a:rPr sz="1700">
                <a:solidFill>
                  <a:srgbClr val="595959"/>
                </a:solidFill>
              </a:rPr>
              <a:t>. La de los dígitos, más de </a:t>
            </a:r>
            <a:r>
              <a:rPr sz="1700" b="1">
                <a:solidFill>
                  <a:srgbClr val="595959"/>
                </a:solidFill>
              </a:rPr>
              <a:t>3.000</a:t>
            </a:r>
            <a:r>
              <a:rPr sz="1700">
                <a:solidFill>
                  <a:srgbClr val="595959"/>
                </a:solidFill>
              </a:rPr>
              <a:t>. Y un modelo de lenguaje, miles de millones. No hay forma de probar combinaciones al azar.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La estrategia es otra, y es la misma que usa buena parte del machine learning: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1.</a:t>
            </a:r>
            <a:r>
              <a:rPr sz="1700">
                <a:solidFill>
                  <a:srgbClr val="595959"/>
                </a:solidFill>
              </a:rPr>
              <a:t> Arrancar con pesos </a:t>
            </a:r>
            <a:r>
              <a:rPr sz="1700" b="1">
                <a:solidFill>
                  <a:srgbClr val="595959"/>
                </a:solidFill>
              </a:rPr>
              <a:t>al azar</a:t>
            </a:r>
            <a:r>
              <a:rPr sz="170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2.</a:t>
            </a:r>
            <a:r>
              <a:rPr sz="1700">
                <a:solidFill>
                  <a:srgbClr val="595959"/>
                </a:solidFill>
              </a:rPr>
              <a:t> Ver cuánto se equivoca la red.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3.</a:t>
            </a:r>
            <a:r>
              <a:rPr sz="1700">
                <a:solidFill>
                  <a:srgbClr val="595959"/>
                </a:solidFill>
              </a:rPr>
              <a:t> Cambiar cada peso </a:t>
            </a:r>
            <a:r>
              <a:rPr sz="1700" b="1">
                <a:solidFill>
                  <a:srgbClr val="595959"/>
                </a:solidFill>
              </a:rPr>
              <a:t>un poquito, en la dirección que baja el error</a:t>
            </a:r>
            <a:r>
              <a:rPr sz="170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4.</a:t>
            </a:r>
            <a:r>
              <a:rPr sz="1700">
                <a:solidFill>
                  <a:srgbClr val="595959"/>
                </a:solidFill>
              </a:rPr>
              <a:t> Repetir miles de veces.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Descenso de gradiente</a:t>
            </a:r>
          </a:p>
        </p:txBody>
      </p:sp>
      <p:pic>
        <p:nvPicPr>
          <p:cNvPr id="3" name="Picture 2" descr="13_grad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932688"/>
            <a:ext cx="6309360" cy="29944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036869"/>
            <a:ext cx="8138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Imaginemos la pérdida como un </a:t>
            </a:r>
            <a:r>
              <a:rPr sz="1700" b="1">
                <a:solidFill>
                  <a:srgbClr val="595959"/>
                </a:solidFill>
              </a:rPr>
              <a:t>paisaje</a:t>
            </a:r>
            <a:r>
              <a:rPr sz="1700">
                <a:solidFill>
                  <a:srgbClr val="595959"/>
                </a:solidFill>
              </a:rPr>
              <a:t> donde cada punto es una combinación de pesos y la altura es el error. Entrenar es </a:t>
            </a:r>
            <a:r>
              <a:rPr sz="1700" b="1">
                <a:solidFill>
                  <a:srgbClr val="595959"/>
                </a:solidFill>
              </a:rPr>
              <a:t>bajar la colina con niebla</a:t>
            </a:r>
            <a:r>
              <a:rPr sz="1700">
                <a:solidFill>
                  <a:srgbClr val="595959"/>
                </a:solidFill>
              </a:rPr>
              <a:t>: no vemos el valle, pero sí la pendiente bajo nuestros pies.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Descenso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1440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>
                <a:solidFill>
                  <a:srgbClr val="212121"/>
                </a:solidFill>
              </a:rPr>
              <a:t>¿Cómo funciona el algoritmo?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138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F57C00"/>
                </a:solidFill>
              </a:rPr>
              <a:t>PASO 1</a:t>
            </a:r>
            <a:r>
              <a:rPr sz="1600">
                <a:solidFill>
                  <a:srgbClr val="595959"/>
                </a:solidFill>
              </a:rPr>
              <a:t> </a:t>
            </a:r>
            <a:r>
              <a:rPr sz="1600" b="1">
                <a:solidFill>
                  <a:srgbClr val="595959"/>
                </a:solidFill>
              </a:rPr>
              <a:t>— Inicializar los pesos al azar.</a:t>
            </a:r>
            <a:r>
              <a:rPr sz="1600">
                <a:solidFill>
                  <a:srgbClr val="595959"/>
                </a:solidFill>
              </a:rPr>
              <a:t> Es nuestro punto de partida en el paisaje.</a:t>
            </a:r>
          </a:p>
          <a:p>
            <a:pPr algn="l">
              <a:spcAft>
                <a:spcPts val="100"/>
              </a:spcAft>
            </a:pPr>
            <a:r>
              <a:rPr sz="800"/>
              <a:t> 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F57C00"/>
                </a:solidFill>
              </a:rPr>
              <a:t>PASO 2</a:t>
            </a:r>
            <a:r>
              <a:rPr sz="1600">
                <a:solidFill>
                  <a:srgbClr val="595959"/>
                </a:solidFill>
              </a:rPr>
              <a:t> </a:t>
            </a:r>
            <a:r>
              <a:rPr sz="1600" b="1">
                <a:solidFill>
                  <a:srgbClr val="595959"/>
                </a:solidFill>
              </a:rPr>
              <a:t>— Calcular la pérdida</a:t>
            </a:r>
            <a:r>
              <a:rPr sz="1600">
                <a:solidFill>
                  <a:srgbClr val="595959"/>
                </a:solidFill>
              </a:rPr>
              <a:t> con un lote de datos: ¿a qué altura estamos?</a:t>
            </a:r>
          </a:p>
          <a:p>
            <a:pPr algn="l">
              <a:spcAft>
                <a:spcPts val="100"/>
              </a:spcAft>
            </a:pPr>
            <a:r>
              <a:rPr sz="800"/>
              <a:t> 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F57C00"/>
                </a:solidFill>
              </a:rPr>
              <a:t>PASO 3</a:t>
            </a:r>
            <a:r>
              <a:rPr sz="1600">
                <a:solidFill>
                  <a:srgbClr val="595959"/>
                </a:solidFill>
              </a:rPr>
              <a:t> </a:t>
            </a:r>
            <a:r>
              <a:rPr sz="1600" b="1">
                <a:solidFill>
                  <a:srgbClr val="595959"/>
                </a:solidFill>
              </a:rPr>
              <a:t>— Calcular el gradiente.</a:t>
            </a:r>
            <a:r>
              <a:rPr sz="1600">
                <a:solidFill>
                  <a:srgbClr val="595959"/>
                </a:solidFill>
              </a:rPr>
              <a:t> La derivada de la pérdida respecto de cada peso nos dice hacia dónde sube el error y cuán empinado está.</a:t>
            </a:r>
          </a:p>
          <a:p>
            <a:pPr algn="l">
              <a:spcAft>
                <a:spcPts val="100"/>
              </a:spcAft>
            </a:pPr>
            <a:r>
              <a:rPr sz="800"/>
              <a:t> 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F57C00"/>
                </a:solidFill>
              </a:rPr>
              <a:t>PASO 4</a:t>
            </a:r>
            <a:r>
              <a:rPr sz="1600">
                <a:solidFill>
                  <a:srgbClr val="595959"/>
                </a:solidFill>
              </a:rPr>
              <a:t> </a:t>
            </a:r>
            <a:r>
              <a:rPr sz="1600" b="1">
                <a:solidFill>
                  <a:srgbClr val="595959"/>
                </a:solidFill>
              </a:rPr>
              <a:t>— Mover cada peso en la dirección contraria al gradiente</a:t>
            </a:r>
            <a:r>
              <a:rPr sz="1600">
                <a:solidFill>
                  <a:srgbClr val="595959"/>
                </a:solidFill>
              </a:rPr>
              <a:t>, un paso de tamaño proporcional al </a:t>
            </a:r>
            <a:r>
              <a:rPr sz="1600" b="1">
                <a:solidFill>
                  <a:srgbClr val="595959"/>
                </a:solidFill>
              </a:rPr>
              <a:t>learning rate</a:t>
            </a:r>
            <a:r>
              <a:rPr sz="160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100"/>
              </a:spcAft>
            </a:pPr>
            <a:r>
              <a:rPr sz="800"/>
              <a:t> 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F57C00"/>
                </a:solidFill>
              </a:rPr>
              <a:t>PASO 5</a:t>
            </a:r>
            <a:r>
              <a:rPr sz="1600">
                <a:solidFill>
                  <a:srgbClr val="595959"/>
                </a:solidFill>
              </a:rPr>
              <a:t> </a:t>
            </a:r>
            <a:r>
              <a:rPr sz="1600" b="1">
                <a:solidFill>
                  <a:srgbClr val="595959"/>
                </a:solidFill>
              </a:rPr>
              <a:t>— Volver al PASO 2</a:t>
            </a:r>
            <a:r>
              <a:rPr sz="1600">
                <a:solidFill>
                  <a:srgbClr val="595959"/>
                </a:solidFill>
              </a:rPr>
              <a:t> hasta que la pérdida deje de bajar o se agoten las épocas.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El learning rate: el tamaño del paso</a:t>
            </a:r>
          </a:p>
        </p:txBody>
      </p:sp>
      <p:pic>
        <p:nvPicPr>
          <p:cNvPr id="3" name="Picture 2" descr="14_learning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960120"/>
            <a:ext cx="8046720" cy="27373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880381"/>
            <a:ext cx="8138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Es el hiperparámetro </a:t>
            </a:r>
            <a:r>
              <a:rPr sz="1700" b="1">
                <a:solidFill>
                  <a:srgbClr val="595959"/>
                </a:solidFill>
              </a:rPr>
              <a:t>más sensible</a:t>
            </a:r>
            <a:r>
              <a:rPr sz="1700">
                <a:solidFill>
                  <a:srgbClr val="595959"/>
                </a:solidFill>
              </a:rPr>
              <a:t> de una red. Demasiado chico: no llega nunca. Demasiado grande: rebota y la pérdida puede explotar. Valores típicos: entre </a:t>
            </a:r>
            <a:r>
              <a:rPr sz="1700" b="1">
                <a:solidFill>
                  <a:srgbClr val="595959"/>
                </a:solidFill>
              </a:rPr>
              <a:t>0,001 y 0,1</a:t>
            </a:r>
            <a:r>
              <a:rPr sz="170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Un paisaje más realista</a:t>
            </a:r>
          </a:p>
        </p:txBody>
      </p:sp>
      <p:pic>
        <p:nvPicPr>
          <p:cNvPr id="3" name="Picture 2" descr="13b_paisaj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87552"/>
            <a:ext cx="4182098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17720" y="1051560"/>
            <a:ext cx="4206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595959"/>
                </a:solidFill>
              </a:rPr>
              <a:t>Los dibujos anteriores son un </a:t>
            </a:r>
            <a:r>
              <a:rPr sz="1500" b="1">
                <a:solidFill>
                  <a:srgbClr val="595959"/>
                </a:solidFill>
              </a:rPr>
              <a:t>tazón prolijo</a:t>
            </a:r>
            <a:r>
              <a:rPr sz="1500">
                <a:solidFill>
                  <a:srgbClr val="595959"/>
                </a:solidFill>
              </a:rPr>
              <a:t>: un solo mínimo y pendientes suaves.</a:t>
            </a:r>
          </a:p>
          <a:p>
            <a:pPr algn="l">
              <a:spcAft>
                <a:spcPts val="0"/>
              </a:spcAft>
            </a:pPr>
            <a:r>
              <a:rPr sz="750"/>
              <a:t> 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595959"/>
                </a:solidFill>
              </a:rPr>
              <a:t>La pérdida de una red real se parece más a esto: </a:t>
            </a:r>
            <a:r>
              <a:rPr sz="1500" b="1">
                <a:solidFill>
                  <a:srgbClr val="595959"/>
                </a:solidFill>
              </a:rPr>
              <a:t>valles, crestas, mesetas</a:t>
            </a:r>
            <a:r>
              <a:rPr sz="1500">
                <a:solidFill>
                  <a:srgbClr val="595959"/>
                </a:solidFill>
              </a:rPr>
              <a:t> y muchos mínimos locales.</a:t>
            </a:r>
          </a:p>
          <a:p>
            <a:pPr algn="l">
              <a:spcAft>
                <a:spcPts val="0"/>
              </a:spcAft>
            </a:pPr>
            <a:r>
              <a:rPr sz="750"/>
              <a:t> 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595959"/>
                </a:solidFill>
              </a:rPr>
              <a:t>Y aun así </a:t>
            </a:r>
            <a:r>
              <a:rPr sz="1500" b="1">
                <a:solidFill>
                  <a:srgbClr val="595959"/>
                </a:solidFill>
              </a:rPr>
              <a:t>es una simplificación</a:t>
            </a:r>
            <a:r>
              <a:rPr sz="1500">
                <a:solidFill>
                  <a:srgbClr val="595959"/>
                </a:solidFill>
              </a:rPr>
              <a:t>: esta red tiene unos 850.000 pesos, o sea un paisaje de 850.000 dimensiones. Lo que vemos es un corte a lo largo de </a:t>
            </a:r>
            <a:r>
              <a:rPr sz="1500" b="1">
                <a:solidFill>
                  <a:srgbClr val="595959"/>
                </a:solidFill>
              </a:rPr>
              <a:t>2 direcciones elegidas al azar</a:t>
            </a:r>
            <a:r>
              <a:rPr sz="150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262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>
                <a:solidFill>
                  <a:srgbClr val="8A8A8A"/>
                </a:solidFill>
              </a:rPr>
              <a:t>Fuente: Li, Xu, Taylor, Studer y Goldstein (2018), </a:t>
            </a:r>
            <a:r>
              <a:rPr sz="1050" i="1">
                <a:solidFill>
                  <a:srgbClr val="0097A7"/>
                </a:solidFill>
                <a:hlinkClick r:id="rId3"/>
              </a:rPr>
              <a:t>Visualizing the Loss Landscape of Neural Nets</a:t>
            </a:r>
            <a:r>
              <a:rPr sz="1050">
                <a:solidFill>
                  <a:srgbClr val="8A8A8A"/>
                </a:solidFill>
              </a:rPr>
              <a:t>, NeurIPS. Fig. 1(a): ResNet-56 sin conexiones residuales, entrenada en CIFAR-10.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Backpropagation: repartir la culpa</a:t>
            </a:r>
          </a:p>
        </p:txBody>
      </p:sp>
      <p:pic>
        <p:nvPicPr>
          <p:cNvPr id="3" name="Picture 2" descr="15_backp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896112"/>
            <a:ext cx="5577840" cy="26778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665382"/>
            <a:ext cx="8138160" cy="132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595959"/>
                </a:solidFill>
              </a:rPr>
              <a:t>El error se mide en la salida, pero la culpa es de </a:t>
            </a:r>
            <a:r>
              <a:rPr sz="1600" b="1">
                <a:solidFill>
                  <a:srgbClr val="595959"/>
                </a:solidFill>
              </a:rPr>
              <a:t>todos</a:t>
            </a:r>
            <a:r>
              <a:rPr sz="1600">
                <a:solidFill>
                  <a:srgbClr val="595959"/>
                </a:solidFill>
              </a:rPr>
              <a:t> los pesos. La </a:t>
            </a:r>
            <a:r>
              <a:rPr sz="1600" b="1">
                <a:solidFill>
                  <a:srgbClr val="595959"/>
                </a:solidFill>
              </a:rPr>
              <a:t>retropropagación</a:t>
            </a:r>
            <a:r>
              <a:rPr sz="1600">
                <a:solidFill>
                  <a:srgbClr val="595959"/>
                </a:solidFill>
              </a:rPr>
              <a:t> es el procedimiento que reparte esa responsabilidad capa por capa, de atrás hacia adelante, aplicando la </a:t>
            </a:r>
            <a:r>
              <a:rPr sz="1600" b="1">
                <a:solidFill>
                  <a:srgbClr val="595959"/>
                </a:solidFill>
              </a:rPr>
              <a:t>regla de la cadena</a:t>
            </a:r>
            <a:r>
              <a:rPr sz="1600">
                <a:solidFill>
                  <a:srgbClr val="595959"/>
                </a:solidFill>
              </a:rPr>
              <a:t>. Es lo que permite entrenar redes profundas: sin ella, calcular el gradiente sería impracticable.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Épocas, lotes y el ciclo completo</a:t>
            </a:r>
          </a:p>
        </p:txBody>
      </p:sp>
      <p:pic>
        <p:nvPicPr>
          <p:cNvPr id="3" name="Picture 2" descr="16_cic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96112"/>
            <a:ext cx="4892040" cy="27008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57800" y="1097280"/>
            <a:ext cx="3703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95959"/>
                </a:solidFill>
              </a:rPr>
              <a:t>Lote (batch).</a:t>
            </a:r>
            <a:r>
              <a:rPr sz="1500">
                <a:solidFill>
                  <a:srgbClr val="595959"/>
                </a:solidFill>
              </a:rPr>
              <a:t> La red no mira todos los datos de una vez: los procesa en grupos de, por ejemplo, 32 casos.</a:t>
            </a:r>
          </a:p>
          <a:p>
            <a:pPr algn="l">
              <a:spcAft>
                <a:spcPts val="0"/>
              </a:spcAft>
            </a:pPr>
            <a:r>
              <a:rPr sz="750"/>
              <a:t> 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595959"/>
                </a:solidFill>
              </a:rPr>
              <a:t>Época (epoch).</a:t>
            </a:r>
            <a:r>
              <a:rPr sz="1500">
                <a:solidFill>
                  <a:srgbClr val="595959"/>
                </a:solidFill>
              </a:rPr>
              <a:t> Una pasada completa por todos los datos de entrenamiento. Entrenar 200 épocas es recorrer el dataset 200 veces.</a:t>
            </a:r>
          </a:p>
          <a:p>
            <a:pPr algn="l">
              <a:spcAft>
                <a:spcPts val="0"/>
              </a:spcAft>
            </a:pPr>
            <a:r>
              <a:rPr sz="750"/>
              <a:t> 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595959"/>
                </a:solidFill>
              </a:rPr>
              <a:t>Iteración.</a:t>
            </a:r>
            <a:r>
              <a:rPr sz="1500">
                <a:solidFill>
                  <a:srgbClr val="595959"/>
                </a:solidFill>
              </a:rPr>
              <a:t> Cada vuelta del ciclo: un lote, una actualización de pesos.</a:t>
            </a:r>
          </a:p>
          <a:p>
            <a:pPr algn="l">
              <a:spcAft>
                <a:spcPts val="0"/>
              </a:spcAft>
            </a:pPr>
            <a:r>
              <a:rPr sz="750"/>
              <a:t> </a:t>
            </a:r>
          </a:p>
          <a:p>
            <a:pPr algn="l">
              <a:spcAft>
                <a:spcPts val="0"/>
              </a:spcAft>
            </a:pPr>
            <a:r>
              <a:rPr sz="1500" i="1">
                <a:solidFill>
                  <a:srgbClr val="595959"/>
                </a:solidFill>
              </a:rPr>
              <a:t>En nnet el entrenamiento usa todos los datos juntos; el esquema de lotes aparece con brulee o keras.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548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8A8A8A"/>
                </a:solidFill>
              </a:rPr>
              <a:t>COMO EN K-MEDIAS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Inicialización aleatoria: el mismo problema</a:t>
            </a:r>
          </a:p>
        </p:txBody>
      </p:sp>
      <p:pic>
        <p:nvPicPr>
          <p:cNvPr id="4" name="Picture 3" descr="17_mini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932688"/>
            <a:ext cx="5577840" cy="26464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725491"/>
            <a:ext cx="8138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Como en </a:t>
            </a:r>
            <a:r>
              <a:rPr sz="1700" b="1">
                <a:solidFill>
                  <a:srgbClr val="595959"/>
                </a:solidFill>
              </a:rPr>
              <a:t>K-medias</a:t>
            </a:r>
            <a:r>
              <a:rPr sz="1700">
                <a:solidFill>
                  <a:srgbClr val="595959"/>
                </a:solidFill>
              </a:rPr>
              <a:t>, los pesos arrancan al azar y el resultado depende de ese arranque: dos corridas de la misma red sobre los mismos datos pueden dar modelos distintos.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Hiperparámetros: lo que decidimos nosotrxs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3268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Como en todos los modelos del módulo, hay que distinguir dos cosas: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44752"/>
          <a:ext cx="8321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26080"/>
                <a:gridCol w="38404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00FF"/>
                          </a:solidFill>
                        </a:rPr>
                        <a:t>Lo que APRENDE la red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00FF"/>
                          </a:solidFill>
                        </a:rPr>
                        <a:t>Lo que DECIDIMOS nosotrxs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12121"/>
                          </a:solidFill>
                        </a:rPr>
                        <a:t>Qué 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pesos y sesgos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hiperparámetros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12121"/>
                          </a:solidFill>
                        </a:rPr>
                        <a:t>Cuántos son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cientos o millones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un puñado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12121"/>
                          </a:solidFill>
                        </a:rPr>
                        <a:t>Ejemplos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w = 2,1 ; b = −1,2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neuronas, capas, activación,</a:t>
                      </a:r>
                      <a:br>
                        <a:rPr sz="1500">
                          <a:solidFill>
                            <a:srgbClr val="212121"/>
                          </a:solidFill>
                        </a:rPr>
                      </a:br>
                      <a:r>
                        <a:rPr sz="1500">
                          <a:solidFill>
                            <a:srgbClr val="212121"/>
                          </a:solidFill>
                        </a:rPr>
                        <a:t>learning rate, épocas, regularización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12121"/>
                          </a:solidFill>
                        </a:rPr>
                        <a:t>Cómo se fijan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descenso de gradiente</a:t>
                      </a:r>
                      <a:br>
                        <a:rPr sz="1500">
                          <a:solidFill>
                            <a:srgbClr val="212121"/>
                          </a:solidFill>
                        </a:rPr>
                      </a:br>
                      <a:r>
                        <a:rPr sz="1500">
                          <a:solidFill>
                            <a:srgbClr val="212121"/>
                          </a:solidFill>
                        </a:rPr>
                        <a:t>sobre los datos de train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probando alternativas</a:t>
                      </a:r>
                      <a:br>
                        <a:rPr sz="1500">
                          <a:solidFill>
                            <a:srgbClr val="212121"/>
                          </a:solidFill>
                        </a:rPr>
                      </a:br>
                      <a:r>
                        <a:rPr sz="1500">
                          <a:solidFill>
                            <a:srgbClr val="212121"/>
                          </a:solidFill>
                        </a:rPr>
                        <a:t>con cross-validation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4348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La red tiene </a:t>
            </a:r>
            <a:r>
              <a:rPr sz="1700" b="1">
                <a:solidFill>
                  <a:srgbClr val="595959"/>
                </a:solidFill>
              </a:rPr>
              <a:t>más hiperparámetros que un árbol o un random forest</a:t>
            </a:r>
            <a:r>
              <a:rPr sz="1700">
                <a:solidFill>
                  <a:srgbClr val="595959"/>
                </a:solidFill>
              </a:rPr>
              <a:t>. Es una de las razones por las que cuesta más ponerla a punto.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¿Cuántas capas? ¿Cuántas neuronas?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No hay fórmula. Sí hay criterios: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Empezar chico.</a:t>
            </a:r>
            <a:r>
              <a:rPr sz="1700">
                <a:solidFill>
                  <a:srgbClr val="595959"/>
                </a:solidFill>
              </a:rPr>
              <a:t> Con datos tabulares y unos pocos miles de casos, </a:t>
            </a:r>
            <a:r>
              <a:rPr sz="1700" b="1">
                <a:solidFill>
                  <a:srgbClr val="595959"/>
                </a:solidFill>
              </a:rPr>
              <a:t>una capa oculta</a:t>
            </a:r>
            <a:r>
              <a:rPr sz="1700">
                <a:solidFill>
                  <a:srgbClr val="595959"/>
                </a:solidFill>
              </a:rPr>
              <a:t> suele alcanzar. Agregar capas rara vez mejora y siempre complica.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Neuronas: entre la cantidad de variables y el doble.</a:t>
            </a:r>
            <a:r>
              <a:rPr sz="1700">
                <a:solidFill>
                  <a:srgbClr val="595959"/>
                </a:solidFill>
              </a:rPr>
              <a:t> Con 15 predictoras, probar 8, 16, 32 y comparar.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Más neuronas = más capacidad = más riesgo de sobreajuste.</a:t>
            </a:r>
            <a:r>
              <a:rPr sz="1700">
                <a:solidFill>
                  <a:srgbClr val="595959"/>
                </a:solidFill>
              </a:rPr>
              <a:t> La flexibilidad no es gratis: hay que pagarla con más datos o con regularización.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La regla práctica:</a:t>
            </a:r>
            <a:r>
              <a:rPr sz="1700">
                <a:solidFill>
                  <a:srgbClr val="595959"/>
                </a:solidFill>
              </a:rPr>
              <a:t> agrandar la red solo cuando la performance en </a:t>
            </a:r>
            <a:r>
              <a:rPr sz="1700" b="1">
                <a:solidFill>
                  <a:srgbClr val="595959"/>
                </a:solidFill>
              </a:rPr>
              <a:t>validación</a:t>
            </a:r>
            <a:r>
              <a:rPr sz="1700">
                <a:solidFill>
                  <a:srgbClr val="595959"/>
                </a:solidFill>
              </a:rPr>
              <a:t> lo justifique, no porque el error de entrenamiento baje.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Escalar las variables no es opcional</a:t>
            </a:r>
          </a:p>
        </p:txBody>
      </p:sp>
      <p:pic>
        <p:nvPicPr>
          <p:cNvPr id="3" name="Picture 2" descr="19_esca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932688"/>
            <a:ext cx="6675120" cy="27463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807017"/>
            <a:ext cx="8138160" cy="1085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595959"/>
                </a:solidFill>
              </a:rPr>
              <a:t>Si «edad» va de 18 a 90 y «ingreso» de 0 a 2.000.000, los pesos del ingreso arrancan con una escala completamente distinta y el entrenamiento se vuelve lento e inestable. </a:t>
            </a:r>
            <a:r>
              <a:rPr sz="1600" b="1">
                <a:solidFill>
                  <a:srgbClr val="595959"/>
                </a:solidFill>
              </a:rPr>
              <a:t>Los árboles no necesitan esto; las redes sí.</a:t>
            </a:r>
            <a:r>
              <a:rPr sz="1600">
                <a:solidFill>
                  <a:srgbClr val="595959"/>
                </a:solidFill>
              </a:rPr>
              <a:t> En la receta: </a:t>
            </a:r>
            <a:r>
              <a:rPr sz="1504">
                <a:solidFill>
                  <a:srgbClr val="595959"/>
                </a:solidFill>
                <a:latin typeface="Consolas"/>
              </a:rPr>
              <a:t>step_normalize()</a:t>
            </a:r>
            <a:r>
              <a:rPr sz="1600">
                <a:solidFill>
                  <a:srgbClr val="595959"/>
                </a:solidFill>
              </a:rPr>
              <a:t> o </a:t>
            </a:r>
            <a:r>
              <a:rPr sz="1504">
                <a:solidFill>
                  <a:srgbClr val="595959"/>
                </a:solidFill>
                <a:latin typeface="Consolas"/>
              </a:rPr>
              <a:t>step_range()</a:t>
            </a:r>
            <a:r>
              <a:rPr sz="160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Y las categóricas hay que convertirlas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Un árbol puede preguntar directamente «¿la relación con el jefe de hogar es </a:t>
            </a:r>
            <a:r>
              <a:rPr sz="1700" i="1">
                <a:solidFill>
                  <a:srgbClr val="595959"/>
                </a:solidFill>
              </a:rPr>
              <a:t>cónyuge</a:t>
            </a:r>
            <a:r>
              <a:rPr sz="1700">
                <a:solidFill>
                  <a:srgbClr val="595959"/>
                </a:solidFill>
              </a:rPr>
              <a:t>?». Una red </a:t>
            </a:r>
            <a:r>
              <a:rPr sz="1700" b="1">
                <a:solidFill>
                  <a:srgbClr val="595959"/>
                </a:solidFill>
              </a:rPr>
              <a:t>no</a:t>
            </a:r>
            <a:r>
              <a:rPr sz="1700">
                <a:solidFill>
                  <a:srgbClr val="595959"/>
                </a:solidFill>
              </a:rPr>
              <a:t>: solo sabe multiplicar números.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Entonces cada categoría se convierte en una </a:t>
            </a:r>
            <a:r>
              <a:rPr sz="1700" b="1">
                <a:solidFill>
                  <a:srgbClr val="595959"/>
                </a:solidFill>
              </a:rPr>
              <a:t>variable binaria</a:t>
            </a:r>
            <a:r>
              <a:rPr sz="1700">
                <a:solidFill>
                  <a:srgbClr val="595959"/>
                </a:solidFill>
              </a:rPr>
              <a:t> (0/1). Es el paso </a:t>
            </a:r>
            <a:r>
              <a:rPr sz="1597">
                <a:solidFill>
                  <a:srgbClr val="595959"/>
                </a:solidFill>
                <a:latin typeface="Consolas"/>
              </a:rPr>
              <a:t>step_dummy()</a:t>
            </a:r>
            <a:r>
              <a:rPr sz="1700">
                <a:solidFill>
                  <a:srgbClr val="595959"/>
                </a:solidFill>
              </a:rPr>
              <a:t>, que ya usaron en el Módulo 3.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Dos consecuencias prácticas: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1.</a:t>
            </a:r>
            <a:r>
              <a:rPr sz="1700">
                <a:solidFill>
                  <a:srgbClr val="595959"/>
                </a:solidFill>
              </a:rPr>
              <a:t> Una variable con 14 categorías se transforma en 13 columnas. La red crece rápido: conviene agrupar las categorías chicas con </a:t>
            </a:r>
            <a:r>
              <a:rPr sz="1597">
                <a:solidFill>
                  <a:srgbClr val="595959"/>
                </a:solidFill>
                <a:latin typeface="Consolas"/>
              </a:rPr>
              <a:t>step_other()</a:t>
            </a:r>
            <a:r>
              <a:rPr sz="170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2.</a:t>
            </a:r>
            <a:r>
              <a:rPr sz="1700">
                <a:solidFill>
                  <a:srgbClr val="595959"/>
                </a:solidFill>
              </a:rPr>
              <a:t> Si hay </a:t>
            </a:r>
            <a:r>
              <a:rPr sz="1700" b="1">
                <a:solidFill>
                  <a:srgbClr val="595959"/>
                </a:solidFill>
              </a:rPr>
              <a:t>valores faltantes</a:t>
            </a:r>
            <a:r>
              <a:rPr sz="1700">
                <a:solidFill>
                  <a:srgbClr val="595959"/>
                </a:solidFill>
              </a:rPr>
              <a:t>, hay que resolverlos antes: la red no los tolera. </a:t>
            </a:r>
            <a:r>
              <a:rPr sz="1597">
                <a:solidFill>
                  <a:srgbClr val="595959"/>
                </a:solidFill>
                <a:latin typeface="Consolas"/>
              </a:rPr>
              <a:t>step_impute_mode()</a:t>
            </a:r>
            <a:r>
              <a:rPr sz="1700">
                <a:solidFill>
                  <a:srgbClr val="595959"/>
                </a:solidFill>
              </a:rPr>
              <a:t> y </a:t>
            </a:r>
            <a:r>
              <a:rPr sz="1597">
                <a:solidFill>
                  <a:srgbClr val="595959"/>
                </a:solidFill>
                <a:latin typeface="Consolas"/>
              </a:rPr>
              <a:t>step_impute_median()</a:t>
            </a:r>
            <a:r>
              <a:rPr sz="170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Sobreajuste: entrenar más no es mejor</a:t>
            </a:r>
          </a:p>
        </p:txBody>
      </p:sp>
      <p:pic>
        <p:nvPicPr>
          <p:cNvPr id="3" name="Picture 2" descr="18_sobreaju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" y="914400"/>
            <a:ext cx="5989320" cy="29785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020946"/>
            <a:ext cx="8138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Al principio la red mejora en todo. A partir de cierto punto </a:t>
            </a:r>
            <a:r>
              <a:rPr sz="1700" b="1">
                <a:solidFill>
                  <a:srgbClr val="595959"/>
                </a:solidFill>
              </a:rPr>
              <a:t>sigue mejorando en entrenamiento pero empeora en validación</a:t>
            </a:r>
            <a:r>
              <a:rPr sz="1700">
                <a:solidFill>
                  <a:srgbClr val="595959"/>
                </a:solidFill>
              </a:rPr>
              <a:t>: empezó a memorizar casos en lugar de aprender patrones.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548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8A8A8A"/>
                </a:solidFill>
              </a:rPr>
              <a:t>COMO RIDGE Y LASSO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Tres formas de frenar el sobreajuste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138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7C00"/>
                </a:solidFill>
              </a:rPr>
              <a:t>1 — Early stopping.</a:t>
            </a:r>
            <a:r>
              <a:rPr sz="1700">
                <a:solidFill>
                  <a:srgbClr val="595959"/>
                </a:solidFill>
              </a:rPr>
              <a:t> Cortar el entrenamiento cuando la pérdida de validación deja de bajar. Es la más barata: un hiperparámetro menos que tunear y siempre conviene tenerla.</a:t>
            </a:r>
          </a:p>
          <a:p>
            <a:pPr algn="l">
              <a:spcAft>
                <a:spcPts val="0"/>
              </a:spcAft>
            </a:pPr>
            <a:r>
              <a:rPr sz="850"/>
              <a:t> </a:t>
            </a:r>
          </a:p>
          <a:p>
            <a:pPr algn="l">
              <a:spcAft>
                <a:spcPts val="0"/>
              </a:spcAft>
            </a:pPr>
            <a:r>
              <a:rPr sz="1700" b="1">
                <a:solidFill>
                  <a:srgbClr val="F57C00"/>
                </a:solidFill>
              </a:rPr>
              <a:t>2 — Weight decay.</a:t>
            </a:r>
            <a:r>
              <a:rPr sz="1700">
                <a:solidFill>
                  <a:srgbClr val="595959"/>
                </a:solidFill>
              </a:rPr>
              <a:t> Sumar a la pérdida un castigo por pesos grandes. Es </a:t>
            </a:r>
            <a:r>
              <a:rPr sz="1700" b="1">
                <a:solidFill>
                  <a:srgbClr val="595959"/>
                </a:solidFill>
              </a:rPr>
              <a:t>exactamente Ridge</a:t>
            </a:r>
            <a:r>
              <a:rPr sz="1700">
                <a:solidFill>
                  <a:srgbClr val="595959"/>
                </a:solidFill>
              </a:rPr>
              <a:t>, aplicado a los pesos de la red. En tidymodels es el argumento </a:t>
            </a:r>
            <a:r>
              <a:rPr sz="1597">
                <a:solidFill>
                  <a:srgbClr val="595959"/>
                </a:solidFill>
                <a:latin typeface="Consolas"/>
              </a:rPr>
              <a:t>penalty</a:t>
            </a:r>
            <a:r>
              <a:rPr sz="170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sz="850"/>
              <a:t> </a:t>
            </a:r>
          </a:p>
          <a:p>
            <a:pPr algn="l">
              <a:spcAft>
                <a:spcPts val="0"/>
              </a:spcAft>
            </a:pPr>
            <a:r>
              <a:rPr sz="1700" b="1">
                <a:solidFill>
                  <a:srgbClr val="F57C00"/>
                </a:solidFill>
              </a:rPr>
              <a:t>3 — Dropout.</a:t>
            </a:r>
            <a:r>
              <a:rPr sz="1700">
                <a:solidFill>
                  <a:srgbClr val="595959"/>
                </a:solidFill>
              </a:rPr>
              <a:t> En cada paso se «apagan» neuronas al azar, así ninguna se vuelve indispensable.</a:t>
            </a:r>
          </a:p>
        </p:txBody>
      </p:sp>
      <p:pic>
        <p:nvPicPr>
          <p:cNvPr id="5" name="Picture 4" descr="20_drop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3200400"/>
            <a:ext cx="4663440" cy="18685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548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8A8A8A"/>
                </a:solidFill>
              </a:rPr>
              <a:t>PUENTE CON EL MÓDULO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¿Cómo elegimos los hiperparámetros?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Con la misma herramienta de siempre: </a:t>
            </a:r>
            <a:r>
              <a:rPr sz="1700" b="1">
                <a:solidFill>
                  <a:srgbClr val="595959"/>
                </a:solidFill>
              </a:rPr>
              <a:t>cross-validation</a:t>
            </a:r>
            <a:r>
              <a:rPr sz="1700">
                <a:solidFill>
                  <a:srgbClr val="595959"/>
                </a:solidFill>
              </a:rPr>
              <a:t>. Nada nuevo.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1.</a:t>
            </a:r>
            <a:r>
              <a:rPr sz="1700">
                <a:solidFill>
                  <a:srgbClr val="595959"/>
                </a:solidFill>
              </a:rPr>
              <a:t> Definimos una </a:t>
            </a:r>
            <a:r>
              <a:rPr sz="1700" b="1">
                <a:solidFill>
                  <a:srgbClr val="595959"/>
                </a:solidFill>
              </a:rPr>
              <a:t>grilla</a:t>
            </a:r>
            <a:r>
              <a:rPr sz="1700">
                <a:solidFill>
                  <a:srgbClr val="595959"/>
                </a:solidFill>
              </a:rPr>
              <a:t> de combinaciones a probar (neuronas × penalty × épocas).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2.</a:t>
            </a:r>
            <a:r>
              <a:rPr sz="1700">
                <a:solidFill>
                  <a:srgbClr val="595959"/>
                </a:solidFill>
              </a:rPr>
              <a:t> Partimos el train en </a:t>
            </a:r>
            <a:r>
              <a:rPr sz="1700" b="1">
                <a:solidFill>
                  <a:srgbClr val="595959"/>
                </a:solidFill>
              </a:rPr>
              <a:t>k folds</a:t>
            </a:r>
            <a:r>
              <a:rPr sz="1700">
                <a:solidFill>
                  <a:srgbClr val="595959"/>
                </a:solidFill>
              </a:rPr>
              <a:t> con </a:t>
            </a:r>
            <a:r>
              <a:rPr sz="1597">
                <a:solidFill>
                  <a:srgbClr val="595959"/>
                </a:solidFill>
                <a:latin typeface="Consolas"/>
              </a:rPr>
              <a:t>vfold_cv()</a:t>
            </a:r>
            <a:r>
              <a:rPr sz="170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3.</a:t>
            </a:r>
            <a:r>
              <a:rPr sz="1700">
                <a:solidFill>
                  <a:srgbClr val="595959"/>
                </a:solidFill>
              </a:rPr>
              <a:t> Entrenamos y evaluamos cada combinación en cada fold con </a:t>
            </a:r>
            <a:r>
              <a:rPr sz="1597">
                <a:solidFill>
                  <a:srgbClr val="595959"/>
                </a:solidFill>
                <a:latin typeface="Consolas"/>
              </a:rPr>
              <a:t>tune_grid()</a:t>
            </a:r>
            <a:r>
              <a:rPr sz="170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4.</a:t>
            </a:r>
            <a:r>
              <a:rPr sz="1700">
                <a:solidFill>
                  <a:srgbClr val="595959"/>
                </a:solidFill>
              </a:rPr>
              <a:t> Elegimos la mejor según la métrica que nos importe, con </a:t>
            </a:r>
            <a:r>
              <a:rPr sz="1597">
                <a:solidFill>
                  <a:srgbClr val="595959"/>
                </a:solidFill>
                <a:latin typeface="Consolas"/>
              </a:rPr>
              <a:t>select_best()</a:t>
            </a:r>
            <a:r>
              <a:rPr sz="1700">
                <a:solidFill>
                  <a:srgbClr val="595959"/>
                </a:solidFill>
              </a:rPr>
              <a:t>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Atención al tiempo.</a:t>
            </a:r>
            <a:r>
              <a:rPr sz="1700">
                <a:solidFill>
                  <a:srgbClr val="595959"/>
                </a:solidFill>
              </a:rPr>
              <a:t> Cada combinación implica entrenar una red completa k veces. Una grilla de 3 × 3 × 3 con 10 folds son </a:t>
            </a:r>
            <a:r>
              <a:rPr sz="1700" b="1">
                <a:solidFill>
                  <a:srgbClr val="595959"/>
                </a:solidFill>
              </a:rPr>
              <a:t>270 entrenamientos</a:t>
            </a:r>
            <a:r>
              <a:rPr sz="1700">
                <a:solidFill>
                  <a:srgbClr val="595959"/>
                </a:solidFill>
              </a:rPr>
              <a:t>. Conviene empezar con grillas chicas y </a:t>
            </a:r>
            <a:r>
              <a:rPr sz="1597">
                <a:solidFill>
                  <a:srgbClr val="595959"/>
                </a:solidFill>
                <a:latin typeface="Consolas"/>
              </a:rPr>
              <a:t>doParallel</a:t>
            </a:r>
            <a:r>
              <a:rPr sz="170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Receta práctica: qué tocar y en qué orden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1.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Preprocesar bien primero.</a:t>
            </a:r>
            <a:r>
              <a:rPr sz="1700">
                <a:solidFill>
                  <a:srgbClr val="595959"/>
                </a:solidFill>
              </a:rPr>
              <a:t> Imputar, agrupar categorías, dummies, escalar. La mitad de los problemas de una red son problemas de receta.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2.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Fijar una arquitectura chica</a:t>
            </a:r>
            <a:r>
              <a:rPr sz="1700">
                <a:solidFill>
                  <a:srgbClr val="595959"/>
                </a:solidFill>
              </a:rPr>
              <a:t> (una capa, pocas neuronas) y hacerla funcionar de punta a punta.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3.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Ajustar el learning rate.</a:t>
            </a:r>
            <a:r>
              <a:rPr sz="1700">
                <a:solidFill>
                  <a:srgbClr val="595959"/>
                </a:solidFill>
              </a:rPr>
              <a:t> Es lo que más cambia el resultado.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4.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Subir las épocas</a:t>
            </a:r>
            <a:r>
              <a:rPr sz="1700">
                <a:solidFill>
                  <a:srgbClr val="595959"/>
                </a:solidFill>
              </a:rPr>
              <a:t> hasta que la pérdida de validación deje de bajar.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5.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Recién ahí</a:t>
            </a:r>
            <a:r>
              <a:rPr sz="1700">
                <a:solidFill>
                  <a:srgbClr val="595959"/>
                </a:solidFill>
              </a:rPr>
              <a:t> agrandar la red y sumar regularización.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6.</a:t>
            </a:r>
            <a:r>
              <a:rPr sz="1700">
                <a:solidFill>
                  <a:srgbClr val="595959"/>
                </a:solidFill>
              </a:rPr>
              <a:t> </a:t>
            </a:r>
            <a:r>
              <a:rPr sz="1700" b="1">
                <a:solidFill>
                  <a:srgbClr val="595959"/>
                </a:solidFill>
              </a:rPr>
              <a:t>Comparar siempre contra un modelo simple.</a:t>
            </a:r>
            <a:r>
              <a:rPr sz="1700">
                <a:solidFill>
                  <a:srgbClr val="595959"/>
                </a:solidFill>
              </a:rPr>
              <a:t> Si la red no le gana a una logística o a un random forest, la red no va.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Redes neuronales en tidymodels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595959"/>
                </a:solidFill>
              </a:rPr>
              <a:t>La especificación se llama </a:t>
            </a:r>
            <a:r>
              <a:rPr sz="1504">
                <a:solidFill>
                  <a:srgbClr val="595959"/>
                </a:solidFill>
                <a:latin typeface="Consolas"/>
              </a:rPr>
              <a:t>mlp()</a:t>
            </a:r>
            <a:r>
              <a:rPr sz="1600">
                <a:solidFill>
                  <a:srgbClr val="595959"/>
                </a:solidFill>
              </a:rPr>
              <a:t> — </a:t>
            </a:r>
            <a:r>
              <a:rPr sz="1600" i="1">
                <a:solidFill>
                  <a:srgbClr val="595959"/>
                </a:solidFill>
              </a:rPr>
              <a:t>multilayer perceptron</a:t>
            </a:r>
            <a:r>
              <a:rPr sz="1600">
                <a:solidFill>
                  <a:srgbClr val="595959"/>
                </a:solidFill>
              </a:rPr>
              <a:t> — y se usa igual que </a:t>
            </a:r>
            <a:r>
              <a:rPr sz="1504">
                <a:solidFill>
                  <a:srgbClr val="595959"/>
                </a:solidFill>
                <a:latin typeface="Consolas"/>
              </a:rPr>
              <a:t>decision_tree()</a:t>
            </a:r>
            <a:r>
              <a:rPr sz="1600">
                <a:solidFill>
                  <a:srgbClr val="595959"/>
                </a:solidFill>
              </a:rPr>
              <a:t> o </a:t>
            </a:r>
            <a:r>
              <a:rPr sz="1504">
                <a:solidFill>
                  <a:srgbClr val="595959"/>
                </a:solidFill>
                <a:latin typeface="Consolas"/>
              </a:rPr>
              <a:t>rand_forest()</a:t>
            </a:r>
            <a:r>
              <a:rPr sz="1600">
                <a:solidFill>
                  <a:srgbClr val="595959"/>
                </a:solidFill>
              </a:rPr>
              <a:t>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81328"/>
            <a:ext cx="8321040" cy="187909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Consolas"/>
              </a:rPr>
              <a:t>library</a:t>
            </a:r>
            <a:r>
              <a:rPr sz="1300">
                <a:solidFill>
                  <a:srgbClr val="1A1A1A"/>
                </a:solidFill>
                <a:latin typeface="Consolas"/>
              </a:rPr>
              <a:t>(tidymodels)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onsolas"/>
              </a:rPr>
              <a:t>red_spec &lt;- </a:t>
            </a:r>
            <a:r>
              <a:rPr sz="1300" b="1">
                <a:solidFill>
                  <a:srgbClr val="1A1A1A"/>
                </a:solidFill>
                <a:latin typeface="Consolas"/>
              </a:rPr>
              <a:t>mlp</a:t>
            </a:r>
            <a:r>
              <a:rPr sz="1300">
                <a:solidFill>
                  <a:srgbClr val="1A1A1A"/>
                </a:solidFill>
                <a:latin typeface="Consolas"/>
              </a:rPr>
              <a:t>(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onsolas"/>
              </a:rPr>
              <a:t>  hidden_units = 8,      </a:t>
            </a:r>
            <a:r>
              <a:rPr sz="1300" b="1">
                <a:solidFill>
                  <a:srgbClr val="F57C00"/>
                </a:solidFill>
                <a:latin typeface="Consolas"/>
              </a:rPr>
              <a:t># neuronas en la capa oculta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onsolas"/>
              </a:rPr>
              <a:t>  penalty      = 0.01,   </a:t>
            </a:r>
            <a:r>
              <a:rPr sz="1300" b="1">
                <a:solidFill>
                  <a:srgbClr val="F57C00"/>
                </a:solidFill>
                <a:latin typeface="Consolas"/>
              </a:rPr>
              <a:t># weight decay (Ridge sobre los pesos)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onsolas"/>
              </a:rPr>
              <a:t>  epochs       = 200     </a:t>
            </a:r>
            <a:r>
              <a:rPr sz="1300" b="1">
                <a:solidFill>
                  <a:srgbClr val="F57C00"/>
                </a:solidFill>
                <a:latin typeface="Consolas"/>
              </a:rPr>
              <a:t># cuántas pasadas por los datos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onsolas"/>
              </a:rPr>
              <a:t>) %&gt;%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onsolas"/>
              </a:rPr>
              <a:t>  </a:t>
            </a:r>
            <a:r>
              <a:rPr sz="1300" b="1">
                <a:solidFill>
                  <a:srgbClr val="1A1A1A"/>
                </a:solidFill>
                <a:latin typeface="Consolas"/>
              </a:rPr>
              <a:t>set_engine</a:t>
            </a:r>
            <a:r>
              <a:rPr sz="1300">
                <a:solidFill>
                  <a:srgbClr val="1A1A1A"/>
                </a:solidFill>
                <a:latin typeface="Consolas"/>
              </a:rPr>
              <a:t>("nnet", trace = FALSE) %&gt;%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Consolas"/>
              </a:rPr>
              <a:t>  </a:t>
            </a:r>
            <a:r>
              <a:rPr sz="1300" b="1">
                <a:solidFill>
                  <a:srgbClr val="1A1A1A"/>
                </a:solidFill>
                <a:latin typeface="Consolas"/>
              </a:rPr>
              <a:t>set_mode</a:t>
            </a:r>
            <a:r>
              <a:rPr sz="1300">
                <a:solidFill>
                  <a:srgbClr val="1A1A1A"/>
                </a:solidFill>
                <a:latin typeface="Consolas"/>
              </a:rPr>
              <a:t>("classification")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0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595959"/>
                </a:solidFill>
              </a:rPr>
              <a:t>Los tres hiperparámetros principales son </a:t>
            </a:r>
            <a:r>
              <a:rPr sz="1504">
                <a:solidFill>
                  <a:srgbClr val="595959"/>
                </a:solidFill>
                <a:latin typeface="Consolas"/>
              </a:rPr>
              <a:t>hidden_units</a:t>
            </a:r>
            <a:r>
              <a:rPr sz="1600">
                <a:solidFill>
                  <a:srgbClr val="595959"/>
                </a:solidFill>
              </a:rPr>
              <a:t>, </a:t>
            </a:r>
            <a:r>
              <a:rPr sz="1504">
                <a:solidFill>
                  <a:srgbClr val="595959"/>
                </a:solidFill>
                <a:latin typeface="Consolas"/>
              </a:rPr>
              <a:t>penalty</a:t>
            </a:r>
            <a:r>
              <a:rPr sz="1600">
                <a:solidFill>
                  <a:srgbClr val="595959"/>
                </a:solidFill>
              </a:rPr>
              <a:t> y </a:t>
            </a:r>
            <a:r>
              <a:rPr sz="1504">
                <a:solidFill>
                  <a:srgbClr val="595959"/>
                </a:solidFill>
                <a:latin typeface="Consolas"/>
              </a:rPr>
              <a:t>epochs</a:t>
            </a:r>
            <a:r>
              <a:rPr sz="1600">
                <a:solidFill>
                  <a:srgbClr val="595959"/>
                </a:solidFill>
              </a:rPr>
              <a:t>. Se pueden pasar a </a:t>
            </a:r>
            <a:r>
              <a:rPr sz="1504">
                <a:solidFill>
                  <a:srgbClr val="595959"/>
                </a:solidFill>
                <a:latin typeface="Consolas"/>
              </a:rPr>
              <a:t>tune()</a:t>
            </a:r>
            <a:r>
              <a:rPr sz="1600">
                <a:solidFill>
                  <a:srgbClr val="595959"/>
                </a:solidFill>
              </a:rPr>
              <a:t> como cualquier otro.</a:t>
            </a:r>
          </a:p>
          <a:p>
            <a:pPr algn="l">
              <a:spcAft>
                <a:spcPts val="0"/>
              </a:spcAft>
            </a:pPr>
            <a:r>
              <a:rPr sz="800"/>
              <a:t> </a:t>
            </a:r>
          </a:p>
          <a:p>
            <a:pPr algn="l">
              <a:spcAft>
                <a:spcPts val="0"/>
              </a:spcAft>
            </a:pPr>
            <a:r>
              <a:rPr sz="1600" i="1">
                <a:solidFill>
                  <a:srgbClr val="595959"/>
                </a:solidFill>
              </a:rPr>
              <a:t>`mlp()` con el motor `nnet` admite una sola capa oculta. Para varias capas hace falta `brulee` o `keras`.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Los tres motores disponibles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97280"/>
          <a:ext cx="8321040" cy="320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194560"/>
                <a:gridCol w="2194560"/>
              </a:tblGrid>
              <a:tr h="534924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00FF"/>
                          </a:solidFill>
                        </a:rPr>
                        <a:t>nnet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00FF"/>
                          </a:solidFill>
                        </a:rPr>
                        <a:t>brulee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00FF"/>
                          </a:solidFill>
                        </a:rPr>
                        <a:t>keras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</a:rPr>
                        <a:t>Instalación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ya viene con 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instala torch</a:t>
                      </a:r>
                      <a:br>
                        <a:rPr sz="1400">
                          <a:solidFill>
                            <a:srgbClr val="212121"/>
                          </a:solidFill>
                        </a:rPr>
                      </a:br>
                      <a:r>
                        <a:rPr sz="1400">
                          <a:solidFill>
                            <a:srgbClr val="212121"/>
                          </a:solidFill>
                        </a:rPr>
                        <a:t>(descarga grande)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necesita Python</a:t>
                      </a:r>
                      <a:br>
                        <a:rPr sz="1400">
                          <a:solidFill>
                            <a:srgbClr val="212121"/>
                          </a:solidFill>
                        </a:rPr>
                      </a:br>
                      <a:r>
                        <a:rPr sz="1400">
                          <a:solidFill>
                            <a:srgbClr val="212121"/>
                          </a:solidFill>
                        </a:rPr>
                        <a:t>+ TensorFlow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</a:rPr>
                        <a:t>Capas ocultas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una sola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varias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varias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</a:rPr>
                        <a:t>Learning rate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no se controla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sí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sí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</a:rPr>
                        <a:t>Ver el entrenamiento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no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sí, época por época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sí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12121"/>
                          </a:solidFill>
                        </a:rPr>
                        <a:t>Cuándo usarlo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</a:rPr>
                        <a:t>la clase de hoy</a:t>
                      </a:r>
                      <a:r>
                        <a:rPr sz="1400">
                          <a:solidFill>
                            <a:srgbClr val="212121"/>
                          </a:solidFill>
                        </a:rPr>
                        <a:t/>
                      </a:r>
                      <a:br>
                        <a:rPr sz="1400">
                          <a:solidFill>
                            <a:srgbClr val="212121"/>
                          </a:solidFill>
                        </a:rPr>
                      </a:br>
                      <a:r>
                        <a:rPr sz="1400">
                          <a:solidFill>
                            <a:srgbClr val="212121"/>
                          </a:solidFill>
                        </a:rPr>
                        <a:t>y datos tabulares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para ver cómo entrena</a:t>
                      </a:r>
                      <a:br>
                        <a:rPr sz="1400">
                          <a:solidFill>
                            <a:srgbClr val="212121"/>
                          </a:solidFill>
                        </a:rPr>
                      </a:br>
                      <a:r>
                        <a:rPr sz="1400">
                          <a:solidFill>
                            <a:srgbClr val="212121"/>
                          </a:solidFill>
                        </a:rPr>
                        <a:t>de verdad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212121"/>
                          </a:solidFill>
                        </a:rPr>
                        <a:t>proyectos grandes</a:t>
                      </a:r>
                      <a:br>
                        <a:rPr sz="1400">
                          <a:solidFill>
                            <a:srgbClr val="212121"/>
                          </a:solidFill>
                        </a:rPr>
                      </a:br>
                      <a:r>
                        <a:rPr sz="1400">
                          <a:solidFill>
                            <a:srgbClr val="212121"/>
                          </a:solidFill>
                        </a:rPr>
                        <a:t>e imágenes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45262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595959"/>
                </a:solidFill>
              </a:rPr>
              <a:t>Vamos a trabajar con </a:t>
            </a:r>
            <a:r>
              <a:rPr sz="1600" b="1">
                <a:solidFill>
                  <a:srgbClr val="595959"/>
                </a:solidFill>
              </a:rPr>
              <a:t>nnet</a:t>
            </a:r>
            <a:r>
              <a:rPr sz="1600">
                <a:solidFill>
                  <a:srgbClr val="595959"/>
                </a:solidFill>
              </a:rPr>
              <a:t> y, al final de la práctica, hay una sección opcional con </a:t>
            </a:r>
            <a:r>
              <a:rPr sz="1600" b="1">
                <a:solidFill>
                  <a:srgbClr val="595959"/>
                </a:solidFill>
              </a:rPr>
              <a:t>brulee</a:t>
            </a:r>
            <a:r>
              <a:rPr sz="1600">
                <a:solidFill>
                  <a:srgbClr val="595959"/>
                </a:solidFill>
              </a:rPr>
              <a:t> para ver las curvas de entrenamiento.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El workflow completo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60120"/>
            <a:ext cx="8321040" cy="306324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0584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1A1A1A"/>
                </a:solidFill>
                <a:latin typeface="Consolas"/>
              </a:rPr>
              <a:t>receta &lt;- </a:t>
            </a:r>
            <a:r>
              <a:rPr sz="1250" b="1">
                <a:solidFill>
                  <a:srgbClr val="1A1A1A"/>
                </a:solidFill>
                <a:latin typeface="Consolas"/>
              </a:rPr>
              <a:t>recipe</a:t>
            </a:r>
            <a:r>
              <a:rPr sz="1250">
                <a:solidFill>
                  <a:srgbClr val="1A1A1A"/>
                </a:solidFill>
                <a:latin typeface="Consolas"/>
              </a:rPr>
              <a:t>(realiza_domest ~ ., data = train) %&gt;%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1A1A1A"/>
                </a:solidFill>
                <a:latin typeface="Consolas"/>
              </a:rPr>
              <a:t>  </a:t>
            </a:r>
            <a:r>
              <a:rPr sz="1250" b="1">
                <a:solidFill>
                  <a:srgbClr val="1A1A1A"/>
                </a:solidFill>
                <a:latin typeface="Consolas"/>
              </a:rPr>
              <a:t>update_role</a:t>
            </a:r>
            <a:r>
              <a:rPr sz="1250">
                <a:solidFill>
                  <a:srgbClr val="1A1A1A"/>
                </a:solidFill>
                <a:latin typeface="Consolas"/>
              </a:rPr>
              <a:t>(ID, new_role = "id") %&gt;%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1A1A1A"/>
                </a:solidFill>
                <a:latin typeface="Consolas"/>
              </a:rPr>
              <a:t>  </a:t>
            </a:r>
            <a:r>
              <a:rPr sz="1250" b="1">
                <a:solidFill>
                  <a:srgbClr val="1A1A1A"/>
                </a:solidFill>
                <a:latin typeface="Consolas"/>
              </a:rPr>
              <a:t>step_impute_mode</a:t>
            </a:r>
            <a:r>
              <a:rPr sz="1250">
                <a:solidFill>
                  <a:srgbClr val="1A1A1A"/>
                </a:solidFill>
                <a:latin typeface="Consolas"/>
              </a:rPr>
              <a:t>(all_nominal_predictors()) %&gt;%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1A1A1A"/>
                </a:solidFill>
                <a:latin typeface="Consolas"/>
              </a:rPr>
              <a:t>  </a:t>
            </a:r>
            <a:r>
              <a:rPr sz="1250" b="1">
                <a:solidFill>
                  <a:srgbClr val="1A1A1A"/>
                </a:solidFill>
                <a:latin typeface="Consolas"/>
              </a:rPr>
              <a:t>step_impute_median</a:t>
            </a:r>
            <a:r>
              <a:rPr sz="1250">
                <a:solidFill>
                  <a:srgbClr val="1A1A1A"/>
                </a:solidFill>
                <a:latin typeface="Consolas"/>
              </a:rPr>
              <a:t>(all_numeric_predictors()) %&gt;%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1A1A1A"/>
                </a:solidFill>
                <a:latin typeface="Consolas"/>
              </a:rPr>
              <a:t>  </a:t>
            </a:r>
            <a:r>
              <a:rPr sz="1250" b="1">
                <a:solidFill>
                  <a:srgbClr val="1A1A1A"/>
                </a:solidFill>
                <a:latin typeface="Consolas"/>
              </a:rPr>
              <a:t>step_other</a:t>
            </a:r>
            <a:r>
              <a:rPr sz="1250">
                <a:solidFill>
                  <a:srgbClr val="1A1A1A"/>
                </a:solidFill>
                <a:latin typeface="Consolas"/>
              </a:rPr>
              <a:t>(BHCH04_SEL, threshold = 0.05) %&gt;%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1A1A1A"/>
                </a:solidFill>
                <a:latin typeface="Consolas"/>
              </a:rPr>
              <a:t>  </a:t>
            </a:r>
            <a:r>
              <a:rPr sz="1250" b="1">
                <a:solidFill>
                  <a:srgbClr val="1A1A1A"/>
                </a:solidFill>
                <a:latin typeface="Consolas"/>
              </a:rPr>
              <a:t>step_dummy</a:t>
            </a:r>
            <a:r>
              <a:rPr sz="1250">
                <a:solidFill>
                  <a:srgbClr val="1A1A1A"/>
                </a:solidFill>
                <a:latin typeface="Consolas"/>
              </a:rPr>
              <a:t>(all_nominal_predictors()) %&gt;%   </a:t>
            </a:r>
            <a:r>
              <a:rPr sz="1250" b="1">
                <a:solidFill>
                  <a:srgbClr val="F57C00"/>
                </a:solidFill>
                <a:latin typeface="Consolas"/>
              </a:rPr>
              <a:t># la red no entiende texto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1A1A1A"/>
                </a:solidFill>
                <a:latin typeface="Consolas"/>
              </a:rPr>
              <a:t>  </a:t>
            </a:r>
            <a:r>
              <a:rPr sz="1250" b="1">
                <a:solidFill>
                  <a:srgbClr val="1A1A1A"/>
                </a:solidFill>
                <a:latin typeface="Consolas"/>
              </a:rPr>
              <a:t>step_normalize</a:t>
            </a:r>
            <a:r>
              <a:rPr sz="1250">
                <a:solidFill>
                  <a:srgbClr val="1A1A1A"/>
                </a:solidFill>
                <a:latin typeface="Consolas"/>
              </a:rPr>
              <a:t>(all_numeric_predictors()) %&gt;% </a:t>
            </a:r>
            <a:r>
              <a:rPr sz="1250" b="1">
                <a:solidFill>
                  <a:srgbClr val="F57C00"/>
                </a:solidFill>
                <a:latin typeface="Consolas"/>
              </a:rPr>
              <a:t># escalar: obligatorio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1A1A1A"/>
                </a:solidFill>
                <a:latin typeface="Consolas"/>
              </a:rPr>
              <a:t>  </a:t>
            </a:r>
            <a:r>
              <a:rPr sz="1250" b="1">
                <a:solidFill>
                  <a:srgbClr val="1A1A1A"/>
                </a:solidFill>
                <a:latin typeface="Consolas"/>
              </a:rPr>
              <a:t>step_downsample</a:t>
            </a:r>
            <a:r>
              <a:rPr sz="1250">
                <a:solidFill>
                  <a:srgbClr val="1A1A1A"/>
                </a:solidFill>
                <a:latin typeface="Consolas"/>
              </a:rPr>
              <a:t>(realiza_domest)            </a:t>
            </a:r>
            <a:r>
              <a:rPr sz="1250" b="1">
                <a:solidFill>
                  <a:srgbClr val="F57C00"/>
                </a:solidFill>
                <a:latin typeface="Consolas"/>
              </a:rPr>
              <a:t># balancear clases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1A1A1A"/>
                </a:solidFill>
                <a:latin typeface="Consolas"/>
              </a:rPr>
              <a:t>red_wf &lt;- </a:t>
            </a:r>
            <a:r>
              <a:rPr sz="1250" b="1">
                <a:solidFill>
                  <a:srgbClr val="1A1A1A"/>
                </a:solidFill>
                <a:latin typeface="Consolas"/>
              </a:rPr>
              <a:t>workflow</a:t>
            </a:r>
            <a:r>
              <a:rPr sz="1250">
                <a:solidFill>
                  <a:srgbClr val="1A1A1A"/>
                </a:solidFill>
                <a:latin typeface="Consolas"/>
              </a:rPr>
              <a:t>() %&gt;% </a:t>
            </a:r>
            <a:r>
              <a:rPr sz="1250" b="1">
                <a:solidFill>
                  <a:srgbClr val="1A1A1A"/>
                </a:solidFill>
                <a:latin typeface="Consolas"/>
              </a:rPr>
              <a:t>add_recipe</a:t>
            </a:r>
            <a:r>
              <a:rPr sz="1250">
                <a:solidFill>
                  <a:srgbClr val="1A1A1A"/>
                </a:solidFill>
                <a:latin typeface="Consolas"/>
              </a:rPr>
              <a:t>(receta) %&gt;% </a:t>
            </a:r>
            <a:r>
              <a:rPr sz="1250" b="1">
                <a:solidFill>
                  <a:srgbClr val="1A1A1A"/>
                </a:solidFill>
                <a:latin typeface="Consolas"/>
              </a:rPr>
              <a:t>add_model</a:t>
            </a:r>
            <a:r>
              <a:rPr sz="1250">
                <a:solidFill>
                  <a:srgbClr val="1A1A1A"/>
                </a:solidFill>
                <a:latin typeface="Consolas"/>
              </a:rPr>
              <a:t>(red_spec)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>
                <a:solidFill>
                  <a:srgbClr val="1A1A1A"/>
                </a:solidFill>
                <a:latin typeface="Consolas"/>
              </a:rPr>
              <a:t>red_fit &lt;- red_wf %&gt;% </a:t>
            </a:r>
            <a:r>
              <a:rPr sz="1250" b="1">
                <a:solidFill>
                  <a:srgbClr val="1A1A1A"/>
                </a:solidFill>
                <a:latin typeface="Consolas"/>
              </a:rPr>
              <a:t>fit</a:t>
            </a:r>
            <a:r>
              <a:rPr sz="1250">
                <a:solidFill>
                  <a:srgbClr val="1A1A1A"/>
                </a:solidFill>
                <a:latin typeface="Consolas"/>
              </a:rPr>
              <a:t>(train)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595959"/>
                </a:solidFill>
              </a:rPr>
              <a:t>Es el mismo esquema de las clases anteriores. Lo único que cambia es el modelo y </a:t>
            </a:r>
            <a:r>
              <a:rPr sz="1600" b="1">
                <a:solidFill>
                  <a:srgbClr val="595959"/>
                </a:solidFill>
              </a:rPr>
              <a:t>dos pasos nuevos en la receta</a:t>
            </a:r>
            <a:r>
              <a:rPr sz="1600">
                <a:solidFill>
                  <a:srgbClr val="595959"/>
                </a:solidFill>
              </a:rPr>
              <a:t>: dummies y normalización.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548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8A8A8A"/>
                </a:solidFill>
              </a:rPr>
              <a:t>PRÁCTICA — CASO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Volvemos a la ENUT 2021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El mismo problema de las clases 1 a 3: predecir si una persona </a:t>
            </a:r>
            <a:r>
              <a:rPr sz="1700" b="1">
                <a:solidFill>
                  <a:srgbClr val="595959"/>
                </a:solidFill>
              </a:rPr>
              <a:t>realiza trabajo doméstico</a:t>
            </a:r>
            <a:r>
              <a:rPr sz="1700">
                <a:solidFill>
                  <a:srgbClr val="595959"/>
                </a:solidFill>
              </a:rPr>
              <a:t> (más de 60 minutos en el día) a partir de sexo, edad, condición de actividad, nivel educativo, región, relación con el jefe/a de hogar y demandantes de cuidado en el hogar.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¿Por qué el mismo problema?</a:t>
            </a:r>
            <a:r>
              <a:rPr sz="1700">
                <a:solidFill>
                  <a:srgbClr val="595959"/>
                </a:solidFill>
              </a:rPr>
              <a:t> Porque así la comparación es honesta: mismos datos, misma partición, mismas métricas. Lo único que cambia es el modelo.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Antes de correr nada, apostemos:</a:t>
            </a:r>
            <a:r>
              <a:rPr sz="1700">
                <a:solidFill>
                  <a:srgbClr val="595959"/>
                </a:solidFill>
              </a:rPr>
              <a:t> ¿le va a ganar la red al random forest de la clase 3?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548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8A8A8A"/>
                </a:solidFill>
              </a:rPr>
              <a:t>PRÁCTICA — CASO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Y un caso donde las redes brillan</a:t>
            </a:r>
          </a:p>
        </p:txBody>
      </p:sp>
      <p:pic>
        <p:nvPicPr>
          <p:cNvPr id="4" name="Picture 3" descr="21_digi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2475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611880"/>
            <a:ext cx="8138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595959"/>
                </a:solidFill>
              </a:rPr>
              <a:t>3.000 dígitos manuscritos</a:t>
            </a:r>
            <a:r>
              <a:rPr sz="1700">
                <a:solidFill>
                  <a:srgbClr val="595959"/>
                </a:solidFill>
              </a:rPr>
              <a:t> del dataset MNIST para entrenar y 1.000 para evaluar. Cada imagen es de 28 × 28 píxeles.</a:t>
            </a:r>
          </a:p>
          <a:p>
            <a:pPr algn="l">
              <a:spcAft>
                <a:spcPts val="0"/>
              </a:spcAft>
            </a:pPr>
            <a:r>
              <a:rPr sz="850"/>
              <a:t> </a:t>
            </a:r>
          </a:p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La variable a predecir tiene </a:t>
            </a:r>
            <a:r>
              <a:rPr sz="1700" b="1">
                <a:solidFill>
                  <a:srgbClr val="595959"/>
                </a:solidFill>
              </a:rPr>
              <a:t>10 clases</a:t>
            </a:r>
            <a:r>
              <a:rPr sz="1700">
                <a:solidFill>
                  <a:srgbClr val="595959"/>
                </a:solidFill>
              </a:rPr>
              <a:t> (0 a 9) y hay </a:t>
            </a:r>
            <a:r>
              <a:rPr sz="1700" b="1">
                <a:solidFill>
                  <a:srgbClr val="595959"/>
                </a:solidFill>
              </a:rPr>
              <a:t>784 variables predictoras</a:t>
            </a:r>
            <a:r>
              <a:rPr sz="1700">
                <a:solidFill>
                  <a:srgbClr val="595959"/>
                </a:solidFill>
              </a:rPr>
              <a:t>: una por píxel.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Una imagen es una fila de números</a:t>
            </a:r>
          </a:p>
        </p:txBody>
      </p:sp>
      <p:pic>
        <p:nvPicPr>
          <p:cNvPr id="3" name="Picture 2" descr="22_digito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26448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016428"/>
            <a:ext cx="8138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Con 784 variables, </a:t>
            </a:r>
            <a:r>
              <a:rPr sz="1700" b="1">
                <a:solidFill>
                  <a:srgbClr val="595959"/>
                </a:solidFill>
              </a:rPr>
              <a:t>ningún píxel individual sirve para partir</a:t>
            </a:r>
            <a:r>
              <a:rPr sz="1700">
                <a:solidFill>
                  <a:srgbClr val="595959"/>
                </a:solidFill>
              </a:rPr>
              <a:t>: por eso un árbol se desarma acá. La red, en cambio, puede combinar cientos de píxeles en cada neurona oculta.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0" y="548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8A8A8A"/>
                </a:solidFill>
              </a:rPr>
              <a:t>PUENTE CON LA CLASE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Y acá reaparece el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Entrenar sobre los 784 píxeles crudos con </a:t>
            </a:r>
            <a:r>
              <a:rPr sz="1597">
                <a:solidFill>
                  <a:srgbClr val="595959"/>
                </a:solidFill>
                <a:latin typeface="Consolas"/>
              </a:rPr>
              <a:t>nnet</a:t>
            </a:r>
            <a:r>
              <a:rPr sz="1700">
                <a:solidFill>
                  <a:srgbClr val="595959"/>
                </a:solidFill>
              </a:rPr>
              <a:t> tarda más de un minuto y rinde poco. Hay una solución que ya conocen: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Primero PCA, después la red.</a:t>
            </a:r>
            <a:r>
              <a:rPr sz="1700">
                <a:solidFill>
                  <a:srgbClr val="595959"/>
                </a:solidFill>
              </a:rPr>
              <a:t> Reducimos los 784 píxeles a </a:t>
            </a:r>
            <a:r>
              <a:rPr sz="1700" b="1">
                <a:solidFill>
                  <a:srgbClr val="595959"/>
                </a:solidFill>
              </a:rPr>
              <a:t>50 componentes principales</a:t>
            </a:r>
            <a:r>
              <a:rPr sz="1700">
                <a:solidFill>
                  <a:srgbClr val="595959"/>
                </a:solidFill>
              </a:rPr>
              <a:t> y entrenamos la red sobre esas 50 variables.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step_pca(all_numeric_predictors(), num_comp = 50)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El entrenamiento pasa de </a:t>
            </a:r>
            <a:r>
              <a:rPr sz="1700" b="1">
                <a:solidFill>
                  <a:srgbClr val="595959"/>
                </a:solidFill>
              </a:rPr>
              <a:t>70 segundos a 24</a:t>
            </a:r>
            <a:r>
              <a:rPr sz="1700">
                <a:solidFill>
                  <a:srgbClr val="595959"/>
                </a:solidFill>
              </a:rPr>
              <a:t>, y la performance </a:t>
            </a:r>
            <a:r>
              <a:rPr sz="1700" b="1">
                <a:solidFill>
                  <a:srgbClr val="595959"/>
                </a:solidFill>
              </a:rPr>
              <a:t>mejora</a:t>
            </a:r>
            <a:r>
              <a:rPr sz="1700">
                <a:solidFill>
                  <a:srgbClr val="595959"/>
                </a:solidFill>
              </a:rPr>
              <a:t>. Es un buen recordatorio de que la reducción de dimensionalidad no es solo para visualizar: también es </a:t>
            </a:r>
            <a:r>
              <a:rPr sz="1700" b="1">
                <a:solidFill>
                  <a:srgbClr val="595959"/>
                </a:solidFill>
              </a:rPr>
              <a:t>preprocesamiento</a:t>
            </a:r>
            <a:r>
              <a:rPr sz="1700">
                <a:solidFill>
                  <a:srgbClr val="595959"/>
                </a:solidFill>
              </a:rPr>
              <a:t> para modelos supervisados.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Resultados en la ENUT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595959"/>
                </a:solidFill>
              </a:rPr>
              <a:t>Misma partición, mismas métricas, sin tuneo de hiperparámetros: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89888"/>
          <a:ext cx="795527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42415"/>
                <a:gridCol w="1042415"/>
                <a:gridCol w="1042415"/>
                <a:gridCol w="1042415"/>
                <a:gridCol w="104241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0000FF"/>
                          </a:solidFill>
                        </a:rPr>
                        <a:t>Modelo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0000FF"/>
                          </a:solidFill>
                        </a:rPr>
                        <a:t>Accuracy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0000FF"/>
                          </a:solidFill>
                        </a:rPr>
                        <a:t>Precision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0000FF"/>
                          </a:solidFill>
                        </a:rPr>
                        <a:t>Recall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0000FF"/>
                          </a:solidFill>
                        </a:rPr>
                        <a:t>F1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0000FF"/>
                          </a:solidFill>
                        </a:rPr>
                        <a:t>ROC AUC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50">
                          <a:solidFill>
                            <a:srgbClr val="212121"/>
                          </a:solidFill>
                        </a:rPr>
                        <a:t>Árbol de decisión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0,685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0,512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0,737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0,604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0,722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12121"/>
                          </a:solidFill>
                        </a:rPr>
                        <a:t>Random Forest (500)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212121"/>
                          </a:solidFill>
                        </a:rPr>
                        <a:t>0,694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212121"/>
                          </a:solidFill>
                        </a:rPr>
                        <a:t>0,522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0,752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212121"/>
                          </a:solidFill>
                        </a:rPr>
                        <a:t>0,616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57C00"/>
                          </a:solidFill>
                        </a:rPr>
                        <a:t>0,766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50">
                          <a:solidFill>
                            <a:srgbClr val="212121"/>
                          </a:solidFill>
                        </a:rPr>
                        <a:t>Regresión logística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212121"/>
                          </a:solidFill>
                        </a:rPr>
                        <a:t>0,694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212121"/>
                          </a:solidFill>
                        </a:rPr>
                        <a:t>0,522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0,741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0,612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0,750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50">
                          <a:solidFill>
                            <a:srgbClr val="212121"/>
                          </a:solidFill>
                        </a:rPr>
                        <a:t>Red neuronal (8 neuronas)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0,679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0,506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57C00"/>
                          </a:solidFill>
                        </a:rPr>
                        <a:t>0,753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0,605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0,756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50">
                          <a:solidFill>
                            <a:srgbClr val="212121"/>
                          </a:solidFill>
                        </a:rPr>
                        <a:t>Red neuronal (32 neuronas)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0,670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0,496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0,695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0,579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>
                          <a:solidFill>
                            <a:srgbClr val="212121"/>
                          </a:solidFill>
                        </a:rPr>
                        <a:t>0,727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041648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595959"/>
                </a:solidFill>
              </a:rPr>
              <a:t>En ROC AUC la red de 8 neuronas queda </a:t>
            </a:r>
            <a:r>
              <a:rPr sz="1600" b="1">
                <a:solidFill>
                  <a:srgbClr val="595959"/>
                </a:solidFill>
              </a:rPr>
              <a:t>entre</a:t>
            </a:r>
            <a:r>
              <a:rPr sz="1600">
                <a:solidFill>
                  <a:srgbClr val="595959"/>
                </a:solidFill>
              </a:rPr>
              <a:t> la logística y el random forest: no aporta nada que no tuviéramos. Y la red de 32 neuronas es </a:t>
            </a:r>
            <a:r>
              <a:rPr sz="1600" b="1">
                <a:solidFill>
                  <a:srgbClr val="595959"/>
                </a:solidFill>
              </a:rPr>
              <a:t>peor que todas</a:t>
            </a:r>
            <a:r>
              <a:rPr sz="1600">
                <a:solidFill>
                  <a:srgbClr val="595959"/>
                </a:solidFill>
              </a:rPr>
              <a:t>: con 10.700 casos de entrenamiento, más capacidad significa más sobreajuste.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La conclusión incómoda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57C00"/>
                </a:solidFill>
              </a:rPr>
              <a:t>En datos tabulares, los ensambles de árboles siguen siendo el estado del arte.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No es un accidente de esta base. Es un resultado consistente en la literatura comparativa, y tiene razones: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Los árboles manejan solos</a:t>
            </a:r>
            <a:r>
              <a:rPr sz="1700">
                <a:solidFill>
                  <a:srgbClr val="595959"/>
                </a:solidFill>
              </a:rPr>
              <a:t> variables categóricas, escalas distintas, faltantes y variables irrelevantes. La red necesita que le preparemos todo.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Los datos tabulares no tienen estructura que aprovechar.</a:t>
            </a:r>
            <a:r>
              <a:rPr sz="1700">
                <a:solidFill>
                  <a:srgbClr val="595959"/>
                </a:solidFill>
              </a:rPr>
              <a:t> En una imagen, los píxeles vecinos están relacionados; en una encuesta, la columna 3 y la columna 4 no tienen ninguna relación espacial.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Hay muchos menos casos.</a:t>
            </a:r>
            <a:r>
              <a:rPr sz="1700">
                <a:solidFill>
                  <a:srgbClr val="595959"/>
                </a:solidFill>
              </a:rPr>
              <a:t> Las redes necesitan muchos datos para justificar su flexibilidad: decenas de miles, no diez mil.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Resultados en los dígitos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234440"/>
          <a:ext cx="7589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691640"/>
                <a:gridCol w="16916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FF"/>
                          </a:solidFill>
                        </a:rPr>
                        <a:t>Modelo (sobre 50 componentes de PCA)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00FF"/>
                          </a:solidFill>
                        </a:rPr>
                        <a:t>Accuracy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000FF"/>
                          </a:solidFill>
                        </a:rPr>
                        <a:t>Tiempo</a:t>
                      </a:r>
                    </a:p>
                  </a:txBody>
                  <a:tcPr marL="64008" marR="64008" marT="18288" marB="18288" anchor="ctr">
                    <a:solidFill>
                      <a:srgbClr val="EEF3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12121"/>
                          </a:solidFill>
                        </a:rPr>
                        <a:t>Árbol de decisión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7C00"/>
                          </a:solidFill>
                        </a:rPr>
                        <a:t>0,596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4 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12121"/>
                          </a:solidFill>
                        </a:rPr>
                        <a:t>Random Forest (500 árboles)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0,895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9 s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12121"/>
                          </a:solidFill>
                        </a:rPr>
                        <a:t>Red neuronal (50 neuronas)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7C00"/>
                          </a:solidFill>
                        </a:rPr>
                        <a:t>0,903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24 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12121"/>
                          </a:solidFill>
                        </a:rPr>
                        <a:t>Red neuronal sobre los 784 píxeles crudos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0,817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212121"/>
                          </a:solidFill>
                        </a:rPr>
                        <a:t>71 s</a:t>
                      </a:r>
                    </a:p>
                  </a:txBody>
                  <a:tcPr marL="64008" marR="64008" marT="18288" marB="18288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11880"/>
            <a:ext cx="8138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>
                <a:solidFill>
                  <a:srgbClr val="595959"/>
                </a:solidFill>
              </a:rPr>
              <a:t>Acá el </a:t>
            </a:r>
            <a:r>
              <a:rPr sz="1600" b="1">
                <a:solidFill>
                  <a:srgbClr val="595959"/>
                </a:solidFill>
              </a:rPr>
              <a:t>árbol simple se derrumba</a:t>
            </a:r>
            <a:r>
              <a:rPr sz="1600">
                <a:solidFill>
                  <a:srgbClr val="595959"/>
                </a:solidFill>
              </a:rPr>
              <a:t> (0,596) y la red le gana al random forest, aunque por poco.</a:t>
            </a:r>
          </a:p>
          <a:p>
            <a:pPr algn="l">
              <a:spcAft>
                <a:spcPts val="0"/>
              </a:spcAft>
            </a:pPr>
            <a:r>
              <a:rPr sz="800"/>
              <a:t> </a:t>
            </a:r>
          </a:p>
          <a:p>
            <a:pPr algn="l">
              <a:spcAft>
                <a:spcPts val="0"/>
              </a:spcAft>
            </a:pPr>
            <a:r>
              <a:rPr sz="1600">
                <a:solidFill>
                  <a:srgbClr val="595959"/>
                </a:solidFill>
              </a:rPr>
              <a:t>Con 3.000 casos de entrenamiento no se ve toda la diferencia. Lo que realmente cambia el juego son las </a:t>
            </a:r>
            <a:r>
              <a:rPr sz="1600" b="1">
                <a:solidFill>
                  <a:srgbClr val="595959"/>
                </a:solidFill>
              </a:rPr>
              <a:t>redes convolucionales</a:t>
            </a:r>
            <a:r>
              <a:rPr sz="1600">
                <a:solidFill>
                  <a:srgbClr val="595959"/>
                </a:solidFill>
              </a:rPr>
              <a:t>, que aprovechan que los píxeles vecinos están relacionados: con el MNIST completo llegan a </a:t>
            </a:r>
            <a:r>
              <a:rPr sz="1600" b="1">
                <a:solidFill>
                  <a:srgbClr val="595959"/>
                </a:solidFill>
              </a:rPr>
              <a:t>99,5%</a:t>
            </a:r>
            <a:r>
              <a:rPr sz="1600">
                <a:solidFill>
                  <a:srgbClr val="59595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La contracara: la caja negra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>
                <a:solidFill>
                  <a:srgbClr val="595959"/>
                </a:solidFill>
              </a:rPr>
              <a:t>De un árbol podíamos imprimir las reglas. De un random forest, el gráfico de </a:t>
            </a:r>
            <a:r>
              <a:rPr sz="1504">
                <a:solidFill>
                  <a:srgbClr val="595959"/>
                </a:solidFill>
                <a:latin typeface="Consolas"/>
              </a:rPr>
              <a:t>vip()</a:t>
            </a:r>
            <a:r>
              <a:rPr sz="1600">
                <a:solidFill>
                  <a:srgbClr val="595959"/>
                </a:solidFill>
              </a:rPr>
              <a:t> con la importancia de cada variable. </a:t>
            </a:r>
            <a:r>
              <a:rPr sz="1600" b="1">
                <a:solidFill>
                  <a:srgbClr val="595959"/>
                </a:solidFill>
              </a:rPr>
              <a:t>De una red no sale nada de eso.</a:t>
            </a:r>
          </a:p>
          <a:p>
            <a:pPr algn="l">
              <a:spcAft>
                <a:spcPts val="100"/>
              </a:spcAft>
            </a:pPr>
            <a:r>
              <a:rPr sz="800"/>
              <a:t> </a:t>
            </a:r>
          </a:p>
          <a:p>
            <a:pPr algn="l">
              <a:spcAft>
                <a:spcPts val="100"/>
              </a:spcAft>
            </a:pPr>
            <a:r>
              <a:rPr sz="1600">
                <a:solidFill>
                  <a:srgbClr val="595959"/>
                </a:solidFill>
              </a:rPr>
              <a:t>Los 121 pesos de la red que entrenamos hoy no se interpretan de a uno: no hay un peso que diga «el sexo aporta tanto». La información está </a:t>
            </a:r>
            <a:r>
              <a:rPr sz="1600" b="1">
                <a:solidFill>
                  <a:srgbClr val="595959"/>
                </a:solidFill>
              </a:rPr>
              <a:t>distribuida</a:t>
            </a:r>
            <a:r>
              <a:rPr sz="1600">
                <a:solidFill>
                  <a:srgbClr val="595959"/>
                </a:solidFill>
              </a:rPr>
              <a:t> entre todos.</a:t>
            </a:r>
          </a:p>
          <a:p>
            <a:pPr algn="l">
              <a:spcAft>
                <a:spcPts val="100"/>
              </a:spcAft>
            </a:pPr>
            <a:r>
              <a:rPr sz="800"/>
              <a:t> 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595959"/>
                </a:solidFill>
              </a:rPr>
              <a:t>Qué sí se puede hacer:</a:t>
            </a:r>
            <a:r>
              <a:rPr sz="1600">
                <a:solidFill>
                  <a:srgbClr val="595959"/>
                </a:solidFill>
              </a:rPr>
              <a:t> </a:t>
            </a:r>
            <a:r>
              <a:rPr sz="1600" b="1">
                <a:solidFill>
                  <a:srgbClr val="F57C00"/>
                </a:solidFill>
              </a:rPr>
              <a:t>importancia por permutación</a:t>
            </a:r>
            <a:r>
              <a:rPr sz="1600">
                <a:solidFill>
                  <a:srgbClr val="595959"/>
                </a:solidFill>
              </a:rPr>
              <a:t> (desordenar una variable y medir cuánto empeora la predicción, sirve con cualquier modelo) y </a:t>
            </a:r>
            <a:r>
              <a:rPr sz="1600" b="1">
                <a:solidFill>
                  <a:srgbClr val="F57C00"/>
                </a:solidFill>
              </a:rPr>
              <a:t>SHAP o LIME</a:t>
            </a:r>
            <a:r>
              <a:rPr sz="1600">
                <a:solidFill>
                  <a:srgbClr val="595959"/>
                </a:solidFill>
              </a:rPr>
              <a:t> (explicar predicciones individuales aproximando el modelo localmente — Molnar, </a:t>
            </a:r>
            <a:r>
              <a:rPr sz="1600" i="1">
                <a:solidFill>
                  <a:srgbClr val="595959"/>
                </a:solidFill>
              </a:rPr>
              <a:t>Interpretable ML</a:t>
            </a:r>
            <a:r>
              <a:rPr sz="1600">
                <a:solidFill>
                  <a:srgbClr val="595959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¿Y entonces para qué tanto ruido?</a:t>
            </a:r>
          </a:p>
        </p:txBody>
      </p:sp>
      <p:pic>
        <p:nvPicPr>
          <p:cNvPr id="3" name="Picture 2" descr="23_e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051560"/>
            <a:ext cx="6217920" cy="27992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997125"/>
            <a:ext cx="8138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>
                <a:solidFill>
                  <a:srgbClr val="595959"/>
                </a:solidFill>
              </a:rPr>
              <a:t>Todo lo que vimos hoy —pesos, activaciones, pérdida, gradiente, backpropagation— es </a:t>
            </a:r>
            <a:r>
              <a:rPr sz="1700" b="1">
                <a:solidFill>
                  <a:srgbClr val="595959"/>
                </a:solidFill>
              </a:rPr>
              <a:t>exactamente</a:t>
            </a:r>
            <a:r>
              <a:rPr sz="1700">
                <a:solidFill>
                  <a:srgbClr val="595959"/>
                </a:solidFill>
              </a:rPr>
              <a:t> lo que hace un LLM. La diferencia es de escala y de arquitectura, no de principio.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Las arquitecturas que sí cambiaron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>
                <a:solidFill>
                  <a:srgbClr val="595959"/>
                </a:solidFill>
              </a:rPr>
              <a:t>Lo que hizo despegar al deep learning no fue apilar más capas densas, sino </a:t>
            </a:r>
            <a:r>
              <a:rPr sz="1700" b="1">
                <a:solidFill>
                  <a:srgbClr val="595959"/>
                </a:solidFill>
              </a:rPr>
              <a:t>arquitecturas que incorporan supuestos sobre los datos</a:t>
            </a:r>
            <a:r>
              <a:rPr sz="1700">
                <a:solidFill>
                  <a:srgbClr val="595959"/>
                </a:solidFill>
              </a:rPr>
              <a:t>: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Convolucionales (CNN).</a:t>
            </a:r>
            <a:r>
              <a:rPr sz="1700">
                <a:solidFill>
                  <a:srgbClr val="595959"/>
                </a:solidFill>
              </a:rPr>
              <a:t> Suponen que los píxeles vecinos están relacionados. Imágenes, y también datos espaciales.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Recurrentes (RNN, LSTM).</a:t>
            </a:r>
            <a:r>
              <a:rPr sz="1700">
                <a:solidFill>
                  <a:srgbClr val="595959"/>
                </a:solidFill>
              </a:rPr>
              <a:t> Suponen que el orden importa. Series de tiempo, texto, audio.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595959"/>
                </a:solidFill>
              </a:rPr>
              <a:t>Transformers.</a:t>
            </a:r>
            <a:r>
              <a:rPr sz="1700">
                <a:solidFill>
                  <a:srgbClr val="595959"/>
                </a:solidFill>
              </a:rPr>
              <a:t> Suponen que cada elemento de una secuencia debe poder «mirar» a todos los demás (</a:t>
            </a:r>
            <a:r>
              <a:rPr sz="1700" i="1">
                <a:solidFill>
                  <a:srgbClr val="595959"/>
                </a:solidFill>
              </a:rPr>
              <a:t>atención</a:t>
            </a:r>
            <a:r>
              <a:rPr sz="1700">
                <a:solidFill>
                  <a:srgbClr val="595959"/>
                </a:solidFill>
              </a:rPr>
              <a:t>). Es la base de GPT, BERT y los modelos de lenguaje actuales.</a:t>
            </a:r>
          </a:p>
          <a:p>
            <a:pPr algn="l">
              <a:spcAft>
                <a:spcPts val="100"/>
              </a:spcAft>
            </a:pPr>
            <a:r>
              <a:rPr sz="850"/>
              <a:t> </a:t>
            </a:r>
          </a:p>
          <a:p>
            <a:pPr algn="l">
              <a:spcAft>
                <a:spcPts val="100"/>
              </a:spcAft>
            </a:pPr>
            <a:r>
              <a:rPr sz="1700" i="1">
                <a:solidFill>
                  <a:srgbClr val="595959"/>
                </a:solidFill>
              </a:rPr>
              <a:t>Una red densa como la de hoy no supone nada sobre los datos. Por eso es el punto de partida, y por eso rara vez es la respuesta final.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Para pensar desde las ciencias sociales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138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595959"/>
                </a:solidFill>
              </a:rPr>
              <a:t>1 — El modelo aprende lo que hay en los datos, incluidos los sesgos.</a:t>
            </a:r>
            <a:r>
              <a:rPr sz="1600">
                <a:solidFill>
                  <a:srgbClr val="595959"/>
                </a:solidFill>
              </a:rPr>
              <a:t> Si la base refleja desigualdades, la red las va a reproducir y, a veces, amplificar. Nada en el algoritmo las corrige.</a:t>
            </a:r>
          </a:p>
          <a:p>
            <a:pPr algn="l">
              <a:spcAft>
                <a:spcPts val="100"/>
              </a:spcAft>
            </a:pPr>
            <a:r>
              <a:rPr sz="800"/>
              <a:t> 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595959"/>
                </a:solidFill>
              </a:rPr>
              <a:t>2 — Más precisión no es más comprensión.</a:t>
            </a:r>
            <a:r>
              <a:rPr sz="1600">
                <a:solidFill>
                  <a:srgbClr val="595959"/>
                </a:solidFill>
              </a:rPr>
              <a:t> Un modelo que predice bien no explica por qué. Y en investigación social, muchas veces lo que buscamos es lo segundo.</a:t>
            </a:r>
          </a:p>
          <a:p>
            <a:pPr algn="l">
              <a:spcAft>
                <a:spcPts val="100"/>
              </a:spcAft>
            </a:pPr>
            <a:r>
              <a:rPr sz="800"/>
              <a:t> 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595959"/>
                </a:solidFill>
              </a:rPr>
              <a:t>3 — «La red decidió» no existe.</a:t>
            </a:r>
            <a:r>
              <a:rPr sz="1600">
                <a:solidFill>
                  <a:srgbClr val="595959"/>
                </a:solidFill>
              </a:rPr>
              <a:t> Alguien eligió los datos, la variable a predecir, el umbral de corte y qué error es aceptable. Todas son decisiones humanas, políticas.</a:t>
            </a:r>
          </a:p>
          <a:p>
            <a:pPr algn="l">
              <a:spcAft>
                <a:spcPts val="100"/>
              </a:spcAft>
            </a:pPr>
            <a:r>
              <a:rPr sz="800"/>
              <a:t> 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595959"/>
                </a:solidFill>
              </a:rPr>
              <a:t>4 — El modelo más complejo no es el mejor modelo.</a:t>
            </a:r>
            <a:r>
              <a:rPr sz="1600">
                <a:solidFill>
                  <a:srgbClr val="595959"/>
                </a:solidFill>
              </a:rPr>
              <a:t> Lo vimos hoy con números: una logística le empató a la red. Elegir el más simple que funciona también es una decisión metodológica.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52220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000FF"/>
                </a:solidFill>
              </a:rPr>
              <a:t>Para seguir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81838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95959"/>
                </a:solidFill>
              </a:rPr>
              <a:t>Bibliografía de esta clase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95959"/>
                </a:solidFill>
              </a:rPr>
              <a:t>James, Witten, Hastie y Tibshirani (2021). </a:t>
            </a:r>
            <a:r>
              <a:rPr sz="1400" i="1">
                <a:solidFill>
                  <a:srgbClr val="0097A7"/>
                </a:solidFill>
                <a:hlinkClick r:id="rId2"/>
              </a:rPr>
              <a:t>An Introduction to Statistical Learning</a:t>
            </a:r>
            <a:r>
              <a:rPr sz="1400">
                <a:solidFill>
                  <a:srgbClr val="595959"/>
                </a:solidFill>
              </a:rPr>
              <a:t>, 2ª ed. Springer. </a:t>
            </a:r>
            <a:r>
              <a:rPr sz="1400" b="1">
                <a:solidFill>
                  <a:srgbClr val="595959"/>
                </a:solidFill>
              </a:rPr>
              <a:t>Cap. 10</a:t>
            </a:r>
            <a:r>
              <a:rPr sz="1400">
                <a:solidFill>
                  <a:srgbClr val="595959"/>
                </a:solidFill>
              </a:rPr>
              <a:t> (Deep Learning).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95959"/>
                </a:solidFill>
              </a:rPr>
              <a:t>Kuhn y Silge (2022). </a:t>
            </a:r>
            <a:r>
              <a:rPr sz="1400" i="1">
                <a:solidFill>
                  <a:srgbClr val="0097A7"/>
                </a:solidFill>
                <a:hlinkClick r:id="rId3"/>
              </a:rPr>
              <a:t>Tidy Modeling with R</a:t>
            </a:r>
            <a:r>
              <a:rPr sz="1400">
                <a:solidFill>
                  <a:srgbClr val="595959"/>
                </a:solidFill>
              </a:rPr>
              <a:t>. O'Reilly. Caps. 12 y 13 (tuneo de hiperparámetros y búsqueda en grilla).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95959"/>
                </a:solidFill>
              </a:rPr>
              <a:t>Molnar (2025). </a:t>
            </a:r>
            <a:r>
              <a:rPr sz="1400" i="1">
                <a:solidFill>
                  <a:srgbClr val="0097A7"/>
                </a:solidFill>
                <a:hlinkClick r:id="rId4"/>
              </a:rPr>
              <a:t>Interpretable Machine Learning</a:t>
            </a:r>
            <a:r>
              <a:rPr sz="1400">
                <a:solidFill>
                  <a:srgbClr val="595959"/>
                </a:solidFill>
              </a:rPr>
              <a:t>, 3ª ed. Caps. 14, 17, 18 y 23 (LIME, Shapley, SHAP, importancia por permutación).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95959"/>
                </a:solidFill>
              </a:rPr>
              <a:t>Nielsen (2015). </a:t>
            </a:r>
            <a:r>
              <a:rPr sz="1400" i="1">
                <a:solidFill>
                  <a:srgbClr val="0097A7"/>
                </a:solidFill>
                <a:hlinkClick r:id="rId5"/>
              </a:rPr>
              <a:t>Neural Networks and Deep Learning</a:t>
            </a:r>
            <a:r>
              <a:rPr sz="1400">
                <a:solidFill>
                  <a:srgbClr val="595959"/>
                </a:solidFill>
              </a:rPr>
              <a:t>. Determination Press. Gratuito online.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95959"/>
                </a:solidFill>
              </a:rPr>
              <a:t>Li, Xu, Taylor, Studer y Goldstein (2018). </a:t>
            </a:r>
            <a:r>
              <a:rPr sz="1400" i="1">
                <a:solidFill>
                  <a:srgbClr val="0097A7"/>
                </a:solidFill>
                <a:hlinkClick r:id="rId6"/>
              </a:rPr>
              <a:t>Visualizing the Loss Landscape of Neural Nets</a:t>
            </a:r>
            <a:r>
              <a:rPr sz="1400">
                <a:solidFill>
                  <a:srgbClr val="595959"/>
                </a:solidFill>
              </a:rPr>
              <a:t>. NeurIPS.</a:t>
            </a:r>
          </a:p>
          <a:p>
            <a:pPr algn="l">
              <a:spcAft>
                <a:spcPts val="300"/>
              </a:spcAft>
            </a:pPr>
            <a:r>
              <a:rPr sz="700"/>
              <a:t> 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95959"/>
                </a:solidFill>
              </a:rPr>
              <a:t>La práctica de hoy</a:t>
            </a:r>
          </a:p>
          <a:p>
            <a:pPr algn="l">
              <a:spcAft>
                <a:spcPts val="300"/>
              </a:spcAft>
            </a:pPr>
            <a:r>
              <a:rPr sz="1316">
                <a:solidFill>
                  <a:srgbClr val="595959"/>
                </a:solidFill>
                <a:latin typeface="Consolas"/>
              </a:rPr>
              <a:t>clase_6.Rmd</a:t>
            </a:r>
            <a:r>
              <a:rPr sz="1400">
                <a:solidFill>
                  <a:srgbClr val="595959"/>
                </a:solidFill>
              </a:rPr>
              <a:t> — práctica guiada: la red sobre la ENUT, el caso de los dígitos y la demo con brulee.</a:t>
            </a:r>
          </a:p>
          <a:p>
            <a:pPr algn="l">
              <a:spcAft>
                <a:spcPts val="300"/>
              </a:spcAft>
            </a:pPr>
            <a:r>
              <a:rPr sz="1316">
                <a:solidFill>
                  <a:srgbClr val="595959"/>
                </a:solidFill>
                <a:latin typeface="Consolas"/>
              </a:rPr>
              <a:t>practica_independiente_6.Rmd</a:t>
            </a:r>
            <a:r>
              <a:rPr sz="1400">
                <a:solidFill>
                  <a:srgbClr val="595959"/>
                </a:solidFill>
              </a:rPr>
              <a:t> — para resolver.</a:t>
            </a:r>
          </a:p>
          <a:p>
            <a:pPr algn="l">
              <a:spcAft>
                <a:spcPts val="300"/>
              </a:spcAft>
            </a:pPr>
            <a:r>
              <a:rPr sz="700"/>
              <a:t> 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95959"/>
                </a:solidFill>
              </a:rPr>
              <a:t>Una recomendación:</a:t>
            </a:r>
            <a:r>
              <a:rPr sz="1400">
                <a:solidFill>
                  <a:srgbClr val="595959"/>
                </a:solidFill>
              </a:rPr>
              <a:t> </a:t>
            </a:r>
            <a:r>
              <a:rPr sz="1400" i="1">
                <a:solidFill>
                  <a:srgbClr val="0097A7"/>
                </a:solidFill>
                <a:hlinkClick r:id="rId7"/>
              </a:rPr>
              <a:t>A Neural Network Playground</a:t>
            </a:r>
            <a:r>
              <a:rPr sz="1400">
                <a:solidFill>
                  <a:srgbClr val="595959"/>
                </a:solidFill>
              </a:rPr>
              <a:t> (playground.tensorflow.org): mover neuronas, capas y learning rate y ver la frontera cambiar en vivo.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